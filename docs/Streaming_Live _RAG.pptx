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3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F4E78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F4E78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F4E78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F4E78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8FB3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60" y="230123"/>
            <a:ext cx="843787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F4E78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2897" y="1001077"/>
            <a:ext cx="8498205" cy="3215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4500" y="773684"/>
            <a:ext cx="5526405" cy="259842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 marR="1358900">
              <a:lnSpc>
                <a:spcPts val="7920"/>
              </a:lnSpc>
              <a:spcBef>
                <a:spcPts val="965"/>
              </a:spcBef>
            </a:pPr>
            <a:r>
              <a:rPr sz="7200" spc="-10" dirty="0">
                <a:solidFill>
                  <a:srgbClr val="FFDDE0"/>
                </a:solidFill>
                <a:latin typeface="Impact"/>
                <a:cs typeface="Impact"/>
              </a:rPr>
              <a:t>STREAMING </a:t>
            </a:r>
            <a:r>
              <a:rPr sz="7200" dirty="0">
                <a:solidFill>
                  <a:srgbClr val="FFDDE0"/>
                </a:solidFill>
                <a:latin typeface="Impact"/>
                <a:cs typeface="Impact"/>
              </a:rPr>
              <a:t>LIVE</a:t>
            </a:r>
            <a:r>
              <a:rPr sz="7200" spc="-145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7200" spc="-25" dirty="0">
                <a:solidFill>
                  <a:srgbClr val="FFDDE0"/>
                </a:solidFill>
                <a:latin typeface="Impact"/>
                <a:cs typeface="Impact"/>
              </a:rPr>
              <a:t>RAG</a:t>
            </a:r>
            <a:endParaRPr sz="7200">
              <a:latin typeface="Impact"/>
              <a:cs typeface="Impact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AN</a:t>
            </a:r>
            <a:r>
              <a:rPr sz="1600" spc="-30" dirty="0">
                <a:solidFill>
                  <a:srgbClr val="FFDDE0"/>
                </a:solidFill>
                <a:latin typeface="Impact"/>
                <a:cs typeface="Impact"/>
              </a:rPr>
              <a:t> EVENT-</a:t>
            </a: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DRIVEN</a:t>
            </a:r>
            <a:r>
              <a:rPr sz="1600" spc="-25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ENGINE</a:t>
            </a:r>
            <a:r>
              <a:rPr sz="1600" spc="-30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spc="-20" dirty="0">
                <a:solidFill>
                  <a:srgbClr val="FFDDE0"/>
                </a:solidFill>
                <a:latin typeface="Impact"/>
                <a:cs typeface="Impact"/>
              </a:rPr>
              <a:t>THAT</a:t>
            </a:r>
            <a:r>
              <a:rPr sz="1600" spc="-25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RETRIEVES</a:t>
            </a:r>
            <a:r>
              <a:rPr sz="1600" spc="-25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WHILE</a:t>
            </a:r>
            <a:r>
              <a:rPr sz="1600" spc="-30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spc="-10" dirty="0">
                <a:solidFill>
                  <a:srgbClr val="FFDDE0"/>
                </a:solidFill>
                <a:latin typeface="Impact"/>
                <a:cs typeface="Impact"/>
              </a:rPr>
              <a:t>YOU'RE</a:t>
            </a:r>
            <a:r>
              <a:rPr sz="1600" spc="-25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dirty="0">
                <a:solidFill>
                  <a:srgbClr val="FFDDE0"/>
                </a:solidFill>
                <a:latin typeface="Impact"/>
                <a:cs typeface="Impact"/>
              </a:rPr>
              <a:t>STILL</a:t>
            </a:r>
            <a:r>
              <a:rPr sz="1600" spc="-30" dirty="0">
                <a:solidFill>
                  <a:srgbClr val="FFDDE0"/>
                </a:solidFill>
                <a:latin typeface="Impact"/>
                <a:cs typeface="Impact"/>
              </a:rPr>
              <a:t> </a:t>
            </a:r>
            <a:r>
              <a:rPr sz="1600" spc="-10" dirty="0">
                <a:solidFill>
                  <a:srgbClr val="FFDDE0"/>
                </a:solidFill>
                <a:latin typeface="Impact"/>
                <a:cs typeface="Impact"/>
              </a:rPr>
              <a:t>TALKING</a:t>
            </a:r>
            <a:endParaRPr sz="1600">
              <a:latin typeface="Impact"/>
              <a:cs typeface="Impact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49555" y="-374252"/>
            <a:ext cx="2922905" cy="3921125"/>
          </a:xfrm>
          <a:prstGeom prst="rect">
            <a:avLst/>
          </a:prstGeom>
        </p:spPr>
        <p:txBody>
          <a:bodyPr vert="horz" wrap="square" lIns="0" tIns="445134" rIns="0" bIns="0" rtlCol="0">
            <a:spAutoFit/>
          </a:bodyPr>
          <a:lstStyle/>
          <a:p>
            <a:pPr marL="29845" marR="5080" indent="-17780">
              <a:lnSpc>
                <a:spcPct val="80000"/>
              </a:lnSpc>
              <a:spcBef>
                <a:spcPts val="3504"/>
              </a:spcBef>
            </a:pPr>
            <a:r>
              <a:rPr sz="14200" spc="-20" dirty="0">
                <a:solidFill>
                  <a:srgbClr val="5A0C11"/>
                </a:solidFill>
              </a:rPr>
              <a:t>LIVE </a:t>
            </a:r>
            <a:r>
              <a:rPr sz="14200" spc="-25" dirty="0">
                <a:solidFill>
                  <a:srgbClr val="5A0C11"/>
                </a:solidFill>
              </a:rPr>
              <a:t>RAG</a:t>
            </a:r>
            <a:endParaRPr sz="14200"/>
          </a:p>
        </p:txBody>
      </p:sp>
      <p:sp>
        <p:nvSpPr>
          <p:cNvPr id="4" name="object 4"/>
          <p:cNvSpPr txBox="1"/>
          <p:nvPr/>
        </p:nvSpPr>
        <p:spPr>
          <a:xfrm>
            <a:off x="444500" y="4018788"/>
            <a:ext cx="2473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DDE0"/>
                </a:solidFill>
                <a:latin typeface="Calibri"/>
                <a:cs typeface="Calibri"/>
              </a:rPr>
              <a:t>THEME</a:t>
            </a:r>
            <a:r>
              <a:rPr sz="1400" b="1" spc="-7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DDE0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Samsung</a:t>
            </a:r>
            <a:r>
              <a:rPr sz="140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DDE0"/>
                </a:solidFill>
                <a:latin typeface="Calibri"/>
                <a:cs typeface="Calibri"/>
              </a:rPr>
              <a:t>PRISM</a:t>
            </a:r>
            <a:r>
              <a:rPr sz="140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DDE0"/>
                </a:solidFill>
                <a:latin typeface="Calibri"/>
                <a:cs typeface="Calibri"/>
              </a:rPr>
              <a:t>GenAI</a:t>
            </a:r>
            <a:r>
              <a:rPr sz="140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Hackathon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4801" y="4018848"/>
            <a:ext cx="1143000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DDE0"/>
                </a:solidFill>
                <a:latin typeface="Calibri"/>
                <a:cs typeface="Calibri"/>
              </a:rPr>
              <a:t>TEAM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500" dirty="0" err="1">
                <a:solidFill>
                  <a:schemeClr val="bg2"/>
                </a:solidFill>
                <a:latin typeface="Calibri"/>
                <a:cs typeface="Calibri"/>
              </a:rPr>
              <a:t>HackHazards</a:t>
            </a:r>
            <a:endParaRPr sz="1500" dirty="0">
              <a:solidFill>
                <a:schemeClr val="bg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800" y="137149"/>
            <a:ext cx="8413115" cy="731520"/>
          </a:xfrm>
          <a:prstGeom prst="rect">
            <a:avLst/>
          </a:prstGeom>
          <a:solidFill>
            <a:srgbClr val="F6E9EB"/>
          </a:solidFill>
          <a:ln w="9524">
            <a:solidFill>
              <a:srgbClr val="1F4E78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60"/>
              </a:spcBef>
            </a:pPr>
            <a:r>
              <a:rPr sz="3000" spc="-10" dirty="0">
                <a:solidFill>
                  <a:srgbClr val="6B0F14"/>
                </a:solidFill>
              </a:rPr>
              <a:t>Problem</a:t>
            </a:r>
            <a:r>
              <a:rPr sz="3000" spc="-70" dirty="0">
                <a:solidFill>
                  <a:srgbClr val="6B0F14"/>
                </a:solidFill>
              </a:rPr>
              <a:t> </a:t>
            </a:r>
            <a:r>
              <a:rPr sz="3000" spc="-10" dirty="0">
                <a:solidFill>
                  <a:srgbClr val="6B0F14"/>
                </a:solidFill>
              </a:rPr>
              <a:t>Statement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5750" y="1005850"/>
            <a:ext cx="8368665" cy="1645920"/>
          </a:xfrm>
          <a:prstGeom prst="rect">
            <a:avLst/>
          </a:prstGeom>
          <a:solidFill>
            <a:srgbClr val="D9B8BB"/>
          </a:solidFill>
        </p:spPr>
        <p:txBody>
          <a:bodyPr vert="horz" wrap="square" lIns="0" tIns="0" rIns="0" bIns="0" rtlCol="0">
            <a:spAutoFit/>
          </a:bodyPr>
          <a:lstStyle/>
          <a:p>
            <a:pPr marL="46990" marR="719455">
              <a:lnSpc>
                <a:spcPts val="1980"/>
              </a:lnSpc>
              <a:tabLst>
                <a:tab pos="965200" algn="l"/>
              </a:tabLst>
            </a:pP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Every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time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person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talks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to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an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AI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system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today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—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support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chatbot,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voice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assistant,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a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research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	tool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—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underlying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process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is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same: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person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finishes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speaking,</a:t>
            </a:r>
            <a:r>
              <a:rPr sz="16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waits,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and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only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then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does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system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start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thinking.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It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listens,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ignores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everything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until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6B0F14"/>
                </a:solidFill>
                <a:latin typeface="Calibri"/>
                <a:cs typeface="Calibri"/>
              </a:rPr>
              <a:t>user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stops,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searches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once,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and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answers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once.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This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is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how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virtually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every</a:t>
            </a:r>
            <a:r>
              <a:rPr sz="16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Retrieval</a:t>
            </a:r>
            <a:endParaRPr sz="1650">
              <a:latin typeface="Calibri"/>
              <a:cs typeface="Calibri"/>
            </a:endParaRPr>
          </a:p>
          <a:p>
            <a:pPr marL="46990" marR="2364105">
              <a:lnSpc>
                <a:spcPts val="1980"/>
              </a:lnSpc>
            </a:pP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Augmented</a:t>
            </a:r>
            <a:r>
              <a:rPr sz="16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Generation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(RAG)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system</a:t>
            </a:r>
            <a:r>
              <a:rPr sz="16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works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today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—</a:t>
            </a:r>
            <a:r>
              <a:rPr sz="16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6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batch-oriented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design</a:t>
            </a:r>
            <a:r>
              <a:rPr sz="165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pretending</a:t>
            </a:r>
            <a:r>
              <a:rPr sz="1650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to</a:t>
            </a:r>
            <a:r>
              <a:rPr sz="1650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be</a:t>
            </a:r>
            <a:r>
              <a:rPr sz="1650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650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6B0F14"/>
                </a:solidFill>
                <a:latin typeface="Calibri"/>
                <a:cs typeface="Calibri"/>
              </a:rPr>
              <a:t>conversation.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750" y="2742425"/>
            <a:ext cx="8368665" cy="1572895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2205"/>
              </a:lnSpc>
            </a:pPr>
            <a:r>
              <a:rPr sz="1900" b="1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900" b="1" spc="-1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FFDDE0"/>
                </a:solidFill>
                <a:latin typeface="Calibri"/>
                <a:cs typeface="Calibri"/>
              </a:rPr>
              <a:t>call-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center</a:t>
            </a:r>
            <a:r>
              <a:rPr sz="1900" b="1" spc="-1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moment</a:t>
            </a:r>
            <a:endParaRPr sz="19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20"/>
              </a:spcBef>
            </a:pP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Customer: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"My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phone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screen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FDDE0"/>
                </a:solidFill>
                <a:latin typeface="Calibri"/>
                <a:cs typeface="Calibri"/>
              </a:rPr>
              <a:t>cracked,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is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it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under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warranty,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how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long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does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repair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take,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and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can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get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loaner?"</a:t>
            </a:r>
            <a:endParaRPr sz="135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</a:pPr>
            <a:r>
              <a:rPr sz="1350" dirty="0">
                <a:solidFill>
                  <a:srgbClr val="FFDDE0"/>
                </a:solidFill>
                <a:latin typeface="Microsoft Sans Serif"/>
                <a:cs typeface="Microsoft Sans Serif"/>
              </a:rPr>
              <a:t>→</a:t>
            </a:r>
            <a:r>
              <a:rPr sz="1350" spc="-75" dirty="0">
                <a:solidFill>
                  <a:srgbClr val="FFDDE0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one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search</a:t>
            </a:r>
            <a:r>
              <a:rPr sz="1350" spc="-2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for</a:t>
            </a:r>
            <a:r>
              <a:rPr sz="13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FDDE0"/>
                </a:solidFill>
                <a:latin typeface="Calibri"/>
                <a:cs typeface="Calibri"/>
              </a:rPr>
              <a:t>3–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4</a:t>
            </a:r>
            <a:r>
              <a:rPr sz="1350" spc="-2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questions.</a:t>
            </a:r>
            <a:endParaRPr sz="1350">
              <a:latin typeface="Calibri"/>
              <a:cs typeface="Calibri"/>
            </a:endParaRPr>
          </a:p>
          <a:p>
            <a:pPr marL="38735" marR="647065">
              <a:lnSpc>
                <a:spcPct val="100000"/>
              </a:lnSpc>
            </a:pP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Then: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"Oh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wait,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bought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it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from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FDDE0"/>
                </a:solidFill>
                <a:latin typeface="Calibri"/>
                <a:cs typeface="Calibri"/>
              </a:rPr>
              <a:t>third-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party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seller."</a:t>
            </a:r>
            <a:r>
              <a:rPr sz="1350" spc="26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Microsoft Sans Serif"/>
                <a:cs typeface="Microsoft Sans Serif"/>
              </a:rPr>
              <a:t>→</a:t>
            </a:r>
            <a:r>
              <a:rPr sz="1350" spc="-95" dirty="0">
                <a:solidFill>
                  <a:srgbClr val="FFDDE0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batch</a:t>
            </a:r>
            <a:r>
              <a:rPr sz="13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RAG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either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ignores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it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(wrong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answer)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or</a:t>
            </a:r>
            <a:r>
              <a:rPr sz="13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restarts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and</a:t>
            </a:r>
            <a:r>
              <a:rPr sz="1350" spc="2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throws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away</a:t>
            </a:r>
            <a:r>
              <a:rPr sz="13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what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DDE0"/>
                </a:solidFill>
                <a:latin typeface="Calibri"/>
                <a:cs typeface="Calibri"/>
              </a:rPr>
              <a:t>was</a:t>
            </a:r>
            <a:r>
              <a:rPr sz="13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DDE0"/>
                </a:solidFill>
                <a:latin typeface="Calibri"/>
                <a:cs typeface="Calibri"/>
              </a:rPr>
              <a:t>correct.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50" y="4483728"/>
            <a:ext cx="79114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The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gap: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real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F4E78"/>
                </a:solidFill>
                <a:latin typeface="Calibri"/>
                <a:cs typeface="Calibri"/>
              </a:rPr>
              <a:t>conversations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are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streaming,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F4E78"/>
                </a:solidFill>
                <a:latin typeface="Calibri"/>
                <a:cs typeface="Calibri"/>
              </a:rPr>
              <a:t>layered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and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1F4E78"/>
                </a:solidFill>
                <a:latin typeface="Calibri"/>
                <a:cs typeface="Calibri"/>
              </a:rPr>
              <a:t>self-</a:t>
            </a:r>
            <a:r>
              <a:rPr sz="1500" b="1" spc="-10" dirty="0">
                <a:solidFill>
                  <a:srgbClr val="1F4E78"/>
                </a:solidFill>
                <a:latin typeface="Calibri"/>
                <a:cs typeface="Calibri"/>
              </a:rPr>
              <a:t>correcting.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Today's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RAG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is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none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of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F4E78"/>
                </a:solidFill>
                <a:latin typeface="Calibri"/>
                <a:cs typeface="Calibri"/>
              </a:rPr>
              <a:t>those.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4A0A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DDE0"/>
                </a:solidFill>
              </a:rPr>
              <a:t>What</a:t>
            </a:r>
            <a:r>
              <a:rPr sz="3000" spc="-25" dirty="0">
                <a:solidFill>
                  <a:srgbClr val="FFDDE0"/>
                </a:solidFill>
              </a:rPr>
              <a:t> </a:t>
            </a:r>
            <a:r>
              <a:rPr sz="3000" dirty="0">
                <a:solidFill>
                  <a:srgbClr val="FFDDE0"/>
                </a:solidFill>
              </a:rPr>
              <a:t>We're</a:t>
            </a:r>
            <a:r>
              <a:rPr sz="3000" spc="-5" dirty="0">
                <a:solidFill>
                  <a:srgbClr val="FFDDE0"/>
                </a:solidFill>
              </a:rPr>
              <a:t> </a:t>
            </a:r>
            <a:r>
              <a:rPr sz="3000" spc="-10" dirty="0">
                <a:solidFill>
                  <a:srgbClr val="8FB3E0"/>
                </a:solidFill>
              </a:rPr>
              <a:t>Building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365759" y="1051560"/>
            <a:ext cx="4114800" cy="1691639"/>
          </a:xfrm>
          <a:prstGeom prst="rect">
            <a:avLst/>
          </a:prstGeom>
          <a:solidFill>
            <a:srgbClr val="FFDDE0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1700" b="1" spc="-285" dirty="0">
                <a:solidFill>
                  <a:srgbClr val="6B0F14"/>
                </a:solidFill>
                <a:latin typeface="Arial"/>
                <a:cs typeface="Arial"/>
              </a:rPr>
              <a:t>1</a:t>
            </a:r>
            <a:r>
              <a:rPr sz="1700" b="1" spc="25" dirty="0">
                <a:solidFill>
                  <a:srgbClr val="6B0F14"/>
                </a:solidFill>
                <a:latin typeface="Arial"/>
                <a:cs typeface="Arial"/>
              </a:rPr>
              <a:t> </a:t>
            </a:r>
            <a:r>
              <a:rPr sz="1700" b="1" u="heavy" spc="25" dirty="0">
                <a:solidFill>
                  <a:srgbClr val="6B0F14"/>
                </a:solidFill>
                <a:uFill>
                  <a:solidFill>
                    <a:srgbClr val="6B0F14"/>
                  </a:solidFill>
                </a:uFill>
                <a:latin typeface="Arial"/>
                <a:cs typeface="Arial"/>
              </a:rPr>
              <a:t> </a:t>
            </a:r>
            <a:r>
              <a:rPr sz="1700" b="1" u="heavy" spc="-35" dirty="0">
                <a:solidFill>
                  <a:srgbClr val="6B0F14"/>
                </a:solidFill>
                <a:uFill>
                  <a:solidFill>
                    <a:srgbClr val="6B0F14"/>
                  </a:solidFill>
                </a:uFill>
                <a:latin typeface="Arial"/>
                <a:cs typeface="Arial"/>
              </a:rPr>
              <a:t>Listc⭲s</a:t>
            </a:r>
            <a:r>
              <a:rPr sz="1700" b="1" u="heavy" spc="-5" dirty="0">
                <a:solidFill>
                  <a:srgbClr val="6B0F14"/>
                </a:solidFill>
                <a:uFill>
                  <a:solidFill>
                    <a:srgbClr val="6B0F14"/>
                  </a:solidFill>
                </a:uFill>
                <a:latin typeface="Arial"/>
                <a:cs typeface="Arial"/>
              </a:rPr>
              <a:t> </a:t>
            </a:r>
            <a:r>
              <a:rPr sz="1700" b="1" u="heavy" spc="-10" dirty="0">
                <a:solidFill>
                  <a:srgbClr val="6B0F14"/>
                </a:solidFill>
                <a:uFill>
                  <a:solidFill>
                    <a:srgbClr val="6B0F14"/>
                  </a:solidFill>
                </a:uFill>
                <a:latin typeface="Arial"/>
                <a:cs typeface="Arial"/>
              </a:rPr>
              <a:t>i⭲cícmc⭲tallQ</a:t>
            </a:r>
            <a:endParaRPr sz="1700">
              <a:latin typeface="Arial"/>
              <a:cs typeface="Arial"/>
            </a:endParaRPr>
          </a:p>
          <a:p>
            <a:pPr marL="456565" indent="-312420">
              <a:lnSpc>
                <a:spcPct val="100000"/>
              </a:lnSpc>
              <a:spcBef>
                <a:spcPts val="1225"/>
              </a:spcBef>
              <a:buClr>
                <a:srgbClr val="4A0A0D"/>
              </a:buClr>
              <a:buFont typeface="Microsoft Sans Serif"/>
              <a:buChar char="●"/>
              <a:tabLst>
                <a:tab pos="456565" algn="l"/>
              </a:tabLst>
            </a:pP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Reads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 timestamped transcript</a:t>
            </a:r>
            <a:r>
              <a:rPr sz="1100" spc="-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chunks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as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they</a:t>
            </a:r>
            <a:r>
              <a:rPr sz="1100" spc="-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arrive</a:t>
            </a:r>
            <a:endParaRPr sz="1100">
              <a:latin typeface="Calibri"/>
              <a:cs typeface="Calibri"/>
            </a:endParaRPr>
          </a:p>
          <a:p>
            <a:pPr marL="456565" indent="-312420">
              <a:lnSpc>
                <a:spcPct val="100000"/>
              </a:lnSpc>
              <a:spcBef>
                <a:spcPts val="195"/>
              </a:spcBef>
              <a:buClr>
                <a:srgbClr val="4A0A0D"/>
              </a:buClr>
              <a:buFont typeface="Microsoft Sans Serif"/>
              <a:buChar char="●"/>
              <a:tabLst>
                <a:tab pos="456565" algn="l"/>
              </a:tabLst>
            </a:pP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Compares</a:t>
            </a:r>
            <a:r>
              <a:rPr sz="1100" spc="-3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running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buffer</a:t>
            </a:r>
            <a:r>
              <a:rPr sz="1100" spc="-3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topic</a:t>
            </a:r>
            <a:r>
              <a:rPr sz="1100" spc="-3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clusters</a:t>
            </a:r>
            <a:endParaRPr sz="1100">
              <a:latin typeface="Calibri"/>
              <a:cs typeface="Calibri"/>
            </a:endParaRPr>
          </a:p>
          <a:p>
            <a:pPr marL="457200" marR="113030" indent="-313055">
              <a:lnSpc>
                <a:spcPct val="114999"/>
              </a:lnSpc>
              <a:buClr>
                <a:srgbClr val="4A0A0D"/>
              </a:buClr>
              <a:buFont typeface="Microsoft Sans Serif"/>
              <a:buChar char="●"/>
              <a:tabLst>
                <a:tab pos="457200" algn="l"/>
              </a:tabLst>
            </a:pP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Vague</a:t>
            </a:r>
            <a:r>
              <a:rPr sz="1100" spc="-3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input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means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5A0C11"/>
                </a:solidFill>
                <a:latin typeface="Calibri"/>
                <a:cs typeface="Calibri"/>
              </a:rPr>
              <a:t>WAIT,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clear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match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forks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one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retrieval branch</a:t>
            </a:r>
            <a:endParaRPr sz="1100">
              <a:latin typeface="Calibri"/>
              <a:cs typeface="Calibri"/>
            </a:endParaRPr>
          </a:p>
          <a:p>
            <a:pPr marL="456565" indent="-312420">
              <a:lnSpc>
                <a:spcPct val="100000"/>
              </a:lnSpc>
              <a:spcBef>
                <a:spcPts val="200"/>
              </a:spcBef>
              <a:buClr>
                <a:srgbClr val="4A0A0D"/>
              </a:buClr>
              <a:buFont typeface="Microsoft Sans Serif"/>
              <a:buChar char="●"/>
              <a:tabLst>
                <a:tab pos="456565" algn="l"/>
              </a:tabLst>
            </a:pP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5A0C11"/>
                </a:solidFill>
                <a:latin typeface="Calibri"/>
                <a:cs typeface="Calibri"/>
              </a:rPr>
              <a:t>near-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tie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forks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up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4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cheap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retrieval-</a:t>
            </a:r>
            <a:r>
              <a:rPr sz="1100" dirty="0">
                <a:solidFill>
                  <a:srgbClr val="5A0C11"/>
                </a:solidFill>
                <a:latin typeface="Calibri"/>
                <a:cs typeface="Calibri"/>
              </a:rPr>
              <a:t>only</a:t>
            </a:r>
            <a:r>
              <a:rPr sz="1100" spc="-1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A0C11"/>
                </a:solidFill>
                <a:latin typeface="Calibri"/>
                <a:cs typeface="Calibri"/>
              </a:rPr>
              <a:t>branches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58677" y="1046797"/>
          <a:ext cx="4210050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504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r>
                        <a:rPr sz="1700" b="1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6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700" b="1" spc="65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Dccomposcs</a:t>
                      </a:r>
                      <a:r>
                        <a:rPr sz="1700" b="1" spc="7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700" b="1" spc="-4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sz="1700" b="1" spc="-1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i⭲tc⭲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clusters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become</a:t>
                      </a:r>
                      <a:r>
                        <a:rPr sz="11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parallel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sub-queries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spcBef>
                          <a:spcPts val="200"/>
                        </a:spcBef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Clauses</a:t>
                      </a:r>
                      <a:r>
                        <a:rPr sz="1100" spc="-3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stay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question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(no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over-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splitting)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spcBef>
                          <a:spcPts val="195"/>
                        </a:spcBef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Merges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answers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into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cited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response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spcBef>
                          <a:spcPts val="200"/>
                        </a:spcBef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Splits</a:t>
                      </a:r>
                      <a:r>
                        <a:rPr sz="11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utterance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into</a:t>
                      </a:r>
                      <a:r>
                        <a:rPr sz="11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clauses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boundary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6B0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60997" y="2921317"/>
            <a:ext cx="4124325" cy="1701164"/>
            <a:chOff x="360997" y="2921317"/>
            <a:chExt cx="4124325" cy="1701164"/>
          </a:xfrm>
        </p:grpSpPr>
        <p:sp>
          <p:nvSpPr>
            <p:cNvPr id="7" name="object 7"/>
            <p:cNvSpPr/>
            <p:nvPr/>
          </p:nvSpPr>
          <p:spPr>
            <a:xfrm>
              <a:off x="365759" y="2926079"/>
              <a:ext cx="4114800" cy="1691639"/>
            </a:xfrm>
            <a:custGeom>
              <a:avLst/>
              <a:gdLst/>
              <a:ahLst/>
              <a:cxnLst/>
              <a:rect l="l" t="t" r="r" b="b"/>
              <a:pathLst>
                <a:path w="4114800" h="1691639">
                  <a:moveTo>
                    <a:pt x="4114799" y="1691639"/>
                  </a:moveTo>
                  <a:lnTo>
                    <a:pt x="0" y="1691639"/>
                  </a:lnTo>
                  <a:lnTo>
                    <a:pt x="0" y="0"/>
                  </a:lnTo>
                  <a:lnTo>
                    <a:pt x="4114799" y="0"/>
                  </a:lnTo>
                  <a:lnTo>
                    <a:pt x="4114799" y="1691639"/>
                  </a:lnTo>
                  <a:close/>
                </a:path>
              </a:pathLst>
            </a:custGeom>
            <a:solidFill>
              <a:srgbClr val="FFD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59" y="2926079"/>
              <a:ext cx="4114800" cy="1691639"/>
            </a:xfrm>
            <a:custGeom>
              <a:avLst/>
              <a:gdLst/>
              <a:ahLst/>
              <a:cxnLst/>
              <a:rect l="l" t="t" r="r" b="b"/>
              <a:pathLst>
                <a:path w="4114800" h="1691639">
                  <a:moveTo>
                    <a:pt x="0" y="0"/>
                  </a:moveTo>
                  <a:lnTo>
                    <a:pt x="4114799" y="0"/>
                  </a:lnTo>
                  <a:lnTo>
                    <a:pt x="4114799" y="1691639"/>
                  </a:lnTo>
                  <a:lnTo>
                    <a:pt x="0" y="169163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0522" y="2930842"/>
            <a:ext cx="4105275" cy="216535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5"/>
              </a:lnSpc>
            </a:pPr>
            <a:r>
              <a:rPr sz="1700" b="1" dirty="0">
                <a:solidFill>
                  <a:srgbClr val="6B0F14"/>
                </a:solidFill>
                <a:latin typeface="Arial"/>
                <a:cs typeface="Arial"/>
              </a:rPr>
              <a:t>C</a:t>
            </a:r>
            <a:r>
              <a:rPr sz="1700" b="1" spc="360" dirty="0">
                <a:solidFill>
                  <a:srgbClr val="6B0F14"/>
                </a:solidFill>
                <a:latin typeface="Arial"/>
                <a:cs typeface="Arial"/>
              </a:rPr>
              <a:t> </a:t>
            </a:r>
            <a:r>
              <a:rPr sz="1700" b="1" spc="-75" dirty="0">
                <a:solidFill>
                  <a:srgbClr val="6B0F14"/>
                </a:solidFill>
                <a:latin typeface="Arial"/>
                <a:cs typeface="Arial"/>
              </a:rPr>
              <a:t>Rcﬁ⭲cs,</a:t>
            </a:r>
            <a:r>
              <a:rPr sz="1700" b="1" spc="-45" dirty="0">
                <a:solidFill>
                  <a:srgbClr val="6B0F1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6B0F14"/>
                </a:solidFill>
                <a:latin typeface="Arial"/>
                <a:cs typeface="Arial"/>
              </a:rPr>
              <a:t>⭲cvcí</a:t>
            </a:r>
            <a:r>
              <a:rPr sz="1700" b="1" spc="-55" dirty="0">
                <a:solidFill>
                  <a:srgbClr val="6B0F14"/>
                </a:solidFill>
                <a:latin typeface="Arial"/>
                <a:cs typeface="Arial"/>
              </a:rPr>
              <a:t> </a:t>
            </a:r>
            <a:r>
              <a:rPr sz="1700" b="1" spc="125" dirty="0">
                <a:solidFill>
                  <a:srgbClr val="6B0F14"/>
                </a:solidFill>
                <a:latin typeface="Arial"/>
                <a:cs typeface="Arial"/>
              </a:rPr>
              <a:t>ícstaíts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760" y="3147377"/>
            <a:ext cx="2758440" cy="19685"/>
          </a:xfrm>
          <a:custGeom>
            <a:avLst/>
            <a:gdLst/>
            <a:ahLst/>
            <a:cxnLst/>
            <a:rect l="l" t="t" r="r" b="b"/>
            <a:pathLst>
              <a:path w="2758440" h="19685">
                <a:moveTo>
                  <a:pt x="2757919" y="19430"/>
                </a:moveTo>
                <a:lnTo>
                  <a:pt x="0" y="19430"/>
                </a:lnTo>
                <a:lnTo>
                  <a:pt x="0" y="0"/>
                </a:lnTo>
                <a:lnTo>
                  <a:pt x="2757919" y="0"/>
                </a:lnTo>
                <a:lnTo>
                  <a:pt x="2757919" y="19430"/>
                </a:lnTo>
                <a:close/>
              </a:path>
            </a:pathLst>
          </a:custGeom>
          <a:solidFill>
            <a:srgbClr val="6B0F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522" y="3166808"/>
            <a:ext cx="4105275" cy="144653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52120" indent="-313055">
              <a:lnSpc>
                <a:spcPct val="100000"/>
              </a:lnSpc>
              <a:buClr>
                <a:srgbClr val="4A0A0D"/>
              </a:buClr>
              <a:buFont typeface="Microsoft Sans Serif"/>
              <a:buChar char="●"/>
              <a:tabLst>
                <a:tab pos="452120" algn="l"/>
              </a:tabLst>
            </a:pP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slot-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diff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finds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what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late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detail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changed</a:t>
            </a:r>
            <a:endParaRPr sz="1100">
              <a:latin typeface="Calibri"/>
              <a:cs typeface="Calibri"/>
            </a:endParaRPr>
          </a:p>
          <a:p>
            <a:pPr marL="452120" indent="-313055">
              <a:lnSpc>
                <a:spcPct val="100000"/>
              </a:lnSpc>
              <a:spcBef>
                <a:spcPts val="195"/>
              </a:spcBef>
              <a:buClr>
                <a:srgbClr val="4A0A0D"/>
              </a:buClr>
              <a:buFont typeface="Microsoft Sans Serif"/>
              <a:buChar char="●"/>
              <a:tabLst>
                <a:tab pos="452120" algn="l"/>
              </a:tabLst>
            </a:pP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Embedding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proximity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flags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stale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claims</a:t>
            </a:r>
            <a:endParaRPr sz="1100">
              <a:latin typeface="Calibri"/>
              <a:cs typeface="Calibri"/>
            </a:endParaRPr>
          </a:p>
          <a:p>
            <a:pPr marL="452120" indent="-313055">
              <a:lnSpc>
                <a:spcPct val="100000"/>
              </a:lnSpc>
              <a:spcBef>
                <a:spcPts val="200"/>
              </a:spcBef>
              <a:buClr>
                <a:srgbClr val="4A0A0D"/>
              </a:buClr>
              <a:buFont typeface="Microsoft Sans Serif"/>
              <a:buChar char="●"/>
              <a:tabLst>
                <a:tab pos="452120" algn="l"/>
              </a:tabLst>
            </a:pPr>
            <a:r>
              <a:rPr sz="1100" spc="-15" dirty="0">
                <a:solidFill>
                  <a:srgbClr val="6B0F14"/>
                </a:solidFill>
                <a:latin typeface="Calibri"/>
                <a:cs typeface="Calibri"/>
              </a:rPr>
              <a:t>Re-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searches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re-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verifies</a:t>
            </a:r>
            <a:r>
              <a:rPr sz="1100" spc="-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only</a:t>
            </a:r>
            <a:r>
              <a:rPr sz="1100" spc="-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those</a:t>
            </a:r>
            <a:r>
              <a:rPr sz="1100" spc="-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claims</a:t>
            </a:r>
            <a:endParaRPr sz="1100">
              <a:latin typeface="Calibri"/>
              <a:cs typeface="Calibri"/>
            </a:endParaRPr>
          </a:p>
          <a:p>
            <a:pPr marL="452120" indent="-313055">
              <a:lnSpc>
                <a:spcPct val="100000"/>
              </a:lnSpc>
              <a:spcBef>
                <a:spcPts val="200"/>
              </a:spcBef>
              <a:buClr>
                <a:srgbClr val="4A0A0D"/>
              </a:buClr>
              <a:buFont typeface="Microsoft Sans Serif"/>
              <a:buChar char="●"/>
              <a:tabLst>
                <a:tab pos="452120" algn="l"/>
              </a:tabLst>
            </a:pP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Keeps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other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citations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bumps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answer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B0F14"/>
                </a:solidFill>
                <a:latin typeface="Calibri"/>
                <a:cs typeface="Calibri"/>
              </a:rPr>
              <a:t>version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B0F14"/>
                </a:solidFill>
                <a:latin typeface="Calibri"/>
                <a:cs typeface="Calibri"/>
              </a:rPr>
              <a:t>by</a:t>
            </a:r>
            <a:r>
              <a:rPr sz="110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B0F14"/>
                </a:solidFill>
                <a:latin typeface="Calibri"/>
                <a:cs typeface="Calibri"/>
              </a:rPr>
              <a:t>one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58677" y="2921317"/>
          <a:ext cx="4210050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504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r>
                        <a:rPr sz="1700" b="1" spc="15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35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700" b="1" spc="45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Guaía⭲tccs </a:t>
                      </a:r>
                      <a:r>
                        <a:rPr sz="1700" b="1" spc="-20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oíou⭲di⭲o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Zero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Hallucinations: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Outputs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1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verified,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source-backed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facts.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6565" indent="-312420">
                        <a:lnSpc>
                          <a:spcPct val="100000"/>
                        </a:lnSpc>
                        <a:spcBef>
                          <a:spcPts val="200"/>
                        </a:spcBef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6565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Traceability: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claim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includes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sz="11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citation.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7200" marR="469265" indent="-313055">
                        <a:lnSpc>
                          <a:spcPct val="114999"/>
                        </a:lnSpc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7200" algn="l"/>
                        </a:tabLst>
                      </a:pP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Guessing: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Actively refuses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answer</a:t>
                      </a:r>
                      <a:r>
                        <a:rPr sz="11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information </a:t>
                      </a:r>
                      <a:r>
                        <a:rPr sz="11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missing.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57200" marR="446405" indent="-313055">
                        <a:lnSpc>
                          <a:spcPct val="114999"/>
                        </a:lnSpc>
                        <a:buClr>
                          <a:srgbClr val="4A0A0D"/>
                        </a:buClr>
                        <a:buFont typeface="Microsoft Sans Serif"/>
                        <a:buChar char="●"/>
                        <a:tabLst>
                          <a:tab pos="457200" algn="l"/>
                        </a:tabLst>
                      </a:pP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Restricted Context:</a:t>
                      </a:r>
                      <a:r>
                        <a:rPr sz="11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Answers</a:t>
                      </a:r>
                      <a:r>
                        <a:rPr sz="11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exclusively 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1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authorized, retrieved</a:t>
                      </a:r>
                      <a:r>
                        <a:rPr sz="11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documents.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 cap="flat" cmpd="sng" algn="ctr">
                      <a:solidFill>
                        <a:srgbClr val="6B0F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5192" y="246319"/>
            <a:ext cx="32111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DDE0"/>
                </a:solidFill>
              </a:rPr>
              <a:t>System</a:t>
            </a:r>
            <a:r>
              <a:rPr sz="3000" spc="-110" dirty="0">
                <a:solidFill>
                  <a:srgbClr val="FFDDE0"/>
                </a:solidFill>
              </a:rPr>
              <a:t> </a:t>
            </a:r>
            <a:r>
              <a:rPr sz="3000" spc="-10" dirty="0">
                <a:solidFill>
                  <a:srgbClr val="4A0A0D"/>
                </a:solidFill>
              </a:rPr>
              <a:t>Architecture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950" y="758875"/>
            <a:ext cx="8646599" cy="4232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6B0F14"/>
                </a:solidFill>
              </a:rPr>
              <a:t>How</a:t>
            </a:r>
            <a:r>
              <a:rPr sz="3000" spc="-70" dirty="0">
                <a:solidFill>
                  <a:srgbClr val="6B0F14"/>
                </a:solidFill>
              </a:rPr>
              <a:t> </a:t>
            </a:r>
            <a:r>
              <a:rPr sz="3000" dirty="0">
                <a:solidFill>
                  <a:srgbClr val="6B0F14"/>
                </a:solidFill>
              </a:rPr>
              <a:t>We</a:t>
            </a:r>
            <a:r>
              <a:rPr sz="3000" spc="-70" dirty="0">
                <a:solidFill>
                  <a:srgbClr val="6B0F14"/>
                </a:solidFill>
              </a:rPr>
              <a:t> </a:t>
            </a:r>
            <a:r>
              <a:rPr sz="3000" dirty="0">
                <a:solidFill>
                  <a:srgbClr val="6B0F14"/>
                </a:solidFill>
              </a:rPr>
              <a:t>Prevent</a:t>
            </a:r>
            <a:r>
              <a:rPr sz="3000" spc="-50" dirty="0">
                <a:solidFill>
                  <a:srgbClr val="6B0F14"/>
                </a:solidFill>
              </a:rPr>
              <a:t> </a:t>
            </a:r>
            <a:r>
              <a:rPr sz="3000" spc="-10" dirty="0"/>
              <a:t>Hallucination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5759" y="1051560"/>
            <a:ext cx="1692275" cy="1555115"/>
          </a:xfrm>
          <a:prstGeom prst="rect">
            <a:avLst/>
          </a:prstGeom>
          <a:solidFill>
            <a:srgbClr val="F6E9EB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1855"/>
              </a:lnSpc>
            </a:pPr>
            <a:r>
              <a:rPr sz="1600" b="1" spc="-10" dirty="0">
                <a:solidFill>
                  <a:srgbClr val="6B0F14"/>
                </a:solidFill>
                <a:latin typeface="Calibri"/>
                <a:cs typeface="Calibri"/>
              </a:rPr>
              <a:t>Retrieve</a:t>
            </a:r>
            <a:r>
              <a:rPr sz="160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B0F14"/>
                </a:solidFill>
                <a:latin typeface="Calibri"/>
                <a:cs typeface="Calibri"/>
              </a:rPr>
              <a:t>chunks</a:t>
            </a:r>
            <a:endParaRPr sz="1600">
              <a:latin typeface="Calibri"/>
              <a:cs typeface="Calibri"/>
            </a:endParaRPr>
          </a:p>
          <a:p>
            <a:pPr marR="174625" algn="just">
              <a:lnSpc>
                <a:spcPct val="100000"/>
              </a:lnSpc>
            </a:pPr>
            <a:r>
              <a:rPr sz="1550" spc="-40" dirty="0">
                <a:solidFill>
                  <a:srgbClr val="6B0F14"/>
                </a:solidFill>
                <a:latin typeface="Calibri"/>
                <a:cs typeface="Calibri"/>
              </a:rPr>
              <a:t>Top</a:t>
            </a:r>
            <a:r>
              <a:rPr sz="15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6B0F14"/>
                </a:solidFill>
                <a:latin typeface="Calibri"/>
                <a:cs typeface="Calibri"/>
              </a:rPr>
              <a:t>evidence</a:t>
            </a:r>
            <a:r>
              <a:rPr sz="15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6B0F14"/>
                </a:solidFill>
                <a:latin typeface="Calibri"/>
                <a:cs typeface="Calibri"/>
              </a:rPr>
              <a:t>from </a:t>
            </a:r>
            <a:r>
              <a:rPr sz="15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5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6B0F14"/>
                </a:solidFill>
                <a:latin typeface="Calibri"/>
                <a:cs typeface="Calibri"/>
              </a:rPr>
              <a:t>corpus,</a:t>
            </a:r>
            <a:r>
              <a:rPr sz="15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6B0F14"/>
                </a:solidFill>
                <a:latin typeface="Calibri"/>
                <a:cs typeface="Calibri"/>
              </a:rPr>
              <a:t>scoped </a:t>
            </a:r>
            <a:r>
              <a:rPr sz="1550" dirty="0">
                <a:solidFill>
                  <a:srgbClr val="6B0F14"/>
                </a:solidFill>
                <a:latin typeface="Calibri"/>
                <a:cs typeface="Calibri"/>
              </a:rPr>
              <a:t>by</a:t>
            </a:r>
            <a:r>
              <a:rPr sz="15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6B0F14"/>
                </a:solidFill>
                <a:latin typeface="Calibri"/>
                <a:cs typeface="Calibri"/>
              </a:rPr>
              <a:t>topic</a:t>
            </a:r>
            <a:r>
              <a:rPr sz="15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6B0F14"/>
                </a:solidFill>
                <a:latin typeface="Calibri"/>
                <a:cs typeface="Calibri"/>
              </a:rPr>
              <a:t>cluster.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57400" y="1780977"/>
            <a:ext cx="527685" cy="95885"/>
            <a:chOff x="2057400" y="1780977"/>
            <a:chExt cx="527685" cy="95885"/>
          </a:xfrm>
        </p:grpSpPr>
        <p:sp>
          <p:nvSpPr>
            <p:cNvPr id="5" name="object 5"/>
            <p:cNvSpPr/>
            <p:nvPr/>
          </p:nvSpPr>
          <p:spPr>
            <a:xfrm>
              <a:off x="2057400" y="182879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415289" y="0"/>
                  </a:lnTo>
                </a:path>
              </a:pathLst>
            </a:custGeom>
            <a:ln w="22224">
              <a:solidFill>
                <a:srgbClr val="6B0F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1577" y="1780977"/>
              <a:ext cx="123084" cy="956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06039" y="1051560"/>
            <a:ext cx="1691639" cy="1554480"/>
          </a:xfrm>
          <a:prstGeom prst="rect">
            <a:avLst/>
          </a:prstGeom>
          <a:solidFill>
            <a:srgbClr val="F6E9EB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b="1" dirty="0">
                <a:solidFill>
                  <a:srgbClr val="6B0F14"/>
                </a:solidFill>
                <a:latin typeface="Calibri"/>
                <a:cs typeface="Calibri"/>
              </a:rPr>
              <a:t>Mask</a:t>
            </a:r>
            <a:r>
              <a:rPr sz="1600" b="1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60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6B0F14"/>
                </a:solidFill>
                <a:latin typeface="Calibri"/>
                <a:cs typeface="Calibri"/>
              </a:rPr>
              <a:t>IDs</a:t>
            </a:r>
            <a:endParaRPr sz="1600">
              <a:latin typeface="Calibri"/>
              <a:cs typeface="Calibri"/>
            </a:endParaRPr>
          </a:p>
          <a:p>
            <a:pPr marR="281940">
              <a:lnSpc>
                <a:spcPct val="100000"/>
              </a:lnSpc>
              <a:spcBef>
                <a:spcPts val="5"/>
              </a:spcBef>
            </a:pP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Chunks</a:t>
            </a:r>
            <a:r>
              <a:rPr sz="1450" spc="-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are</a:t>
            </a:r>
            <a:r>
              <a:rPr sz="14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shown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only</a:t>
            </a:r>
            <a:r>
              <a:rPr sz="14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as</a:t>
            </a:r>
            <a:r>
              <a:rPr sz="14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[1],</a:t>
            </a:r>
            <a:r>
              <a:rPr sz="14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[2],</a:t>
            </a:r>
            <a:r>
              <a:rPr sz="14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6B0F14"/>
                </a:solidFill>
                <a:latin typeface="Calibri"/>
                <a:cs typeface="Calibri"/>
              </a:rPr>
              <a:t>[3].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Real</a:t>
            </a:r>
            <a:r>
              <a:rPr sz="14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Doc_IDs</a:t>
            </a:r>
            <a:r>
              <a:rPr sz="14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6B0F14"/>
                </a:solidFill>
                <a:latin typeface="Calibri"/>
                <a:cs typeface="Calibri"/>
              </a:rPr>
              <a:t>are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never</a:t>
            </a:r>
            <a:r>
              <a:rPr sz="1450" spc="-5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visible.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97679" y="1780977"/>
            <a:ext cx="527685" cy="95885"/>
            <a:chOff x="4297679" y="1780977"/>
            <a:chExt cx="527685" cy="95885"/>
          </a:xfrm>
        </p:grpSpPr>
        <p:sp>
          <p:nvSpPr>
            <p:cNvPr id="9" name="object 9"/>
            <p:cNvSpPr/>
            <p:nvPr/>
          </p:nvSpPr>
          <p:spPr>
            <a:xfrm>
              <a:off x="4297679" y="182879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415289" y="0"/>
                  </a:lnTo>
                </a:path>
              </a:pathLst>
            </a:custGeom>
            <a:ln w="22224">
              <a:solidFill>
                <a:srgbClr val="6B0F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1857" y="1780977"/>
              <a:ext cx="123084" cy="956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846320" y="1051560"/>
            <a:ext cx="1691639" cy="1554480"/>
          </a:xfrm>
          <a:prstGeom prst="rect">
            <a:avLst/>
          </a:prstGeom>
          <a:solidFill>
            <a:srgbClr val="F6E9EB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b="1" dirty="0">
                <a:solidFill>
                  <a:srgbClr val="6B0F14"/>
                </a:solidFill>
                <a:latin typeface="Calibri"/>
                <a:cs typeface="Calibri"/>
              </a:rPr>
              <a:t>Write</a:t>
            </a:r>
            <a:r>
              <a:rPr sz="1600" b="1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6B0F14"/>
                </a:solidFill>
                <a:latin typeface="Calibri"/>
                <a:cs typeface="Calibri"/>
              </a:rPr>
              <a:t>+</a:t>
            </a:r>
            <a:r>
              <a:rPr sz="1600" b="1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6B0F14"/>
                </a:solidFill>
                <a:latin typeface="Calibri"/>
                <a:cs typeface="Calibri"/>
              </a:rPr>
              <a:t>cite</a:t>
            </a:r>
            <a:endParaRPr sz="1600">
              <a:latin typeface="Calibri"/>
              <a:cs typeface="Calibri"/>
            </a:endParaRPr>
          </a:p>
          <a:p>
            <a:pPr marR="124460">
              <a:lnSpc>
                <a:spcPct val="100000"/>
              </a:lnSpc>
              <a:spcBef>
                <a:spcPts val="5"/>
              </a:spcBef>
            </a:pP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Each</a:t>
            </a:r>
            <a:r>
              <a:rPr sz="1450" spc="-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claim</a:t>
            </a:r>
            <a:r>
              <a:rPr sz="1450" spc="-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cites</a:t>
            </a:r>
            <a:r>
              <a:rPr sz="1450" spc="-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6B0F14"/>
                </a:solidFill>
                <a:latin typeface="Calibri"/>
                <a:cs typeface="Calibri"/>
              </a:rPr>
              <a:t>an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index,</a:t>
            </a:r>
            <a:r>
              <a:rPr sz="14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so</a:t>
            </a:r>
            <a:r>
              <a:rPr sz="1450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4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6B0F14"/>
                </a:solidFill>
                <a:latin typeface="Calibri"/>
                <a:cs typeface="Calibri"/>
              </a:rPr>
              <a:t>fake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[Doc_999]</a:t>
            </a:r>
            <a:r>
              <a:rPr sz="14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cannot</a:t>
            </a:r>
            <a:r>
              <a:rPr sz="14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6B0F14"/>
                </a:solidFill>
                <a:latin typeface="Calibri"/>
                <a:cs typeface="Calibri"/>
              </a:rPr>
              <a:t>be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produced.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37959" y="1780977"/>
            <a:ext cx="527685" cy="95885"/>
            <a:chOff x="6537959" y="1780977"/>
            <a:chExt cx="527685" cy="95885"/>
          </a:xfrm>
        </p:grpSpPr>
        <p:sp>
          <p:nvSpPr>
            <p:cNvPr id="13" name="object 13"/>
            <p:cNvSpPr/>
            <p:nvPr/>
          </p:nvSpPr>
          <p:spPr>
            <a:xfrm>
              <a:off x="6537959" y="182879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90">
                  <a:moveTo>
                    <a:pt x="0" y="0"/>
                  </a:moveTo>
                  <a:lnTo>
                    <a:pt x="415289" y="0"/>
                  </a:lnTo>
                </a:path>
              </a:pathLst>
            </a:custGeom>
            <a:ln w="22224">
              <a:solidFill>
                <a:srgbClr val="6B0F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2137" y="1780977"/>
              <a:ext cx="123084" cy="9564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086600" y="1051560"/>
            <a:ext cx="1691639" cy="1554480"/>
          </a:xfrm>
          <a:prstGeom prst="rect">
            <a:avLst/>
          </a:prstGeom>
          <a:solidFill>
            <a:srgbClr val="F6E9EB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b="1" spc="-10" dirty="0">
                <a:solidFill>
                  <a:srgbClr val="6B0F14"/>
                </a:solidFill>
                <a:latin typeface="Calibri"/>
                <a:cs typeface="Calibri"/>
              </a:rPr>
              <a:t>Verify</a:t>
            </a:r>
            <a:r>
              <a:rPr sz="1600" b="1" spc="-8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6B0F14"/>
                </a:solidFill>
                <a:latin typeface="Calibri"/>
                <a:cs typeface="Calibri"/>
              </a:rPr>
              <a:t>twice</a:t>
            </a:r>
            <a:endParaRPr sz="1600">
              <a:latin typeface="Calibri"/>
              <a:cs typeface="Calibri"/>
            </a:endParaRPr>
          </a:p>
          <a:p>
            <a:pPr marR="6985">
              <a:lnSpc>
                <a:spcPct val="100000"/>
              </a:lnSpc>
              <a:spcBef>
                <a:spcPts val="5"/>
              </a:spcBef>
            </a:pP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Keyword/entity overlap,</a:t>
            </a:r>
            <a:r>
              <a:rPr sz="14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then</a:t>
            </a:r>
            <a:r>
              <a:rPr sz="14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6B0F14"/>
                </a:solidFill>
                <a:latin typeface="Calibri"/>
                <a:cs typeface="Calibri"/>
              </a:rPr>
              <a:t>NLI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entailment</a:t>
            </a:r>
            <a:r>
              <a:rPr sz="14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against</a:t>
            </a:r>
            <a:r>
              <a:rPr sz="14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6B0F14"/>
                </a:solidFill>
                <a:latin typeface="Calibri"/>
                <a:cs typeface="Calibri"/>
              </a:rPr>
              <a:t>the </a:t>
            </a:r>
            <a:r>
              <a:rPr sz="1450" dirty="0">
                <a:solidFill>
                  <a:srgbClr val="6B0F14"/>
                </a:solidFill>
                <a:latin typeface="Calibri"/>
                <a:cs typeface="Calibri"/>
              </a:rPr>
              <a:t>cited</a:t>
            </a:r>
            <a:r>
              <a:rPr sz="1450" spc="-7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6B0F14"/>
                </a:solidFill>
                <a:latin typeface="Calibri"/>
                <a:cs typeface="Calibri"/>
              </a:rPr>
              <a:t>chunk.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5937" y="2606039"/>
            <a:ext cx="95643" cy="29866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5750" y="3013049"/>
            <a:ext cx="4114800" cy="1056005"/>
          </a:xfrm>
          <a:prstGeom prst="rect">
            <a:avLst/>
          </a:prstGeom>
          <a:solidFill>
            <a:srgbClr val="1F4E78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checks</a:t>
            </a:r>
            <a:endParaRPr sz="1800">
              <a:latin typeface="Calibri"/>
              <a:cs typeface="Calibri"/>
            </a:endParaRPr>
          </a:p>
          <a:p>
            <a:pPr marR="537845">
              <a:lnSpc>
                <a:spcPct val="100000"/>
              </a:lnSpc>
              <a:spcBef>
                <a:spcPts val="1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Index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mapped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[Doc_ID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§Section];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claim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shown.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2000" y="3013050"/>
            <a:ext cx="4114800" cy="1056005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Fail</a:t>
            </a:r>
            <a:r>
              <a:rPr sz="18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either</a:t>
            </a:r>
            <a:r>
              <a:rPr sz="18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DDE0"/>
                </a:solidFill>
                <a:latin typeface="Calibri"/>
                <a:cs typeface="Calibri"/>
              </a:rPr>
              <a:t>check</a:t>
            </a:r>
            <a:endParaRPr sz="1800">
              <a:latin typeface="Calibri"/>
              <a:cs typeface="Calibri"/>
            </a:endParaRPr>
          </a:p>
          <a:p>
            <a:pPr marR="149352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solidFill>
                  <a:srgbClr val="FFDDE0"/>
                </a:solidFill>
                <a:latin typeface="Calibri"/>
                <a:cs typeface="Calibri"/>
              </a:rPr>
              <a:t>Claim</a:t>
            </a:r>
            <a:r>
              <a:rPr sz="140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dropped</a:t>
            </a:r>
            <a:r>
              <a:rPr sz="140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DDE0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replaced</a:t>
            </a:r>
            <a:r>
              <a:rPr sz="140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DDE0"/>
                </a:solidFill>
                <a:latin typeface="Calibri"/>
                <a:cs typeface="Calibri"/>
              </a:rPr>
              <a:t>with</a:t>
            </a:r>
            <a:r>
              <a:rPr sz="140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DDE0"/>
                </a:solidFill>
                <a:latin typeface="Calibri"/>
                <a:cs typeface="Calibri"/>
              </a:rPr>
              <a:t>an </a:t>
            </a: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explicit</a:t>
            </a:r>
            <a:r>
              <a:rPr sz="140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DDE0"/>
                </a:solidFill>
                <a:latin typeface="Calibri"/>
                <a:cs typeface="Calibri"/>
              </a:rPr>
              <a:t>uncertainty</a:t>
            </a:r>
            <a:r>
              <a:rPr sz="140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DDE0"/>
                </a:solidFill>
                <a:latin typeface="Calibri"/>
                <a:cs typeface="Calibri"/>
              </a:rPr>
              <a:t>flag.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060" y="4399788"/>
            <a:ext cx="6852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A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structural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guarantee,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not</a:t>
            </a:r>
            <a:r>
              <a:rPr sz="1400" b="1" spc="-2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a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promise.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Targets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G4:</a:t>
            </a:r>
            <a:r>
              <a:rPr sz="1400" b="1" spc="-1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Arial"/>
                <a:cs typeface="Arial"/>
              </a:rPr>
              <a:t>≥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85%</a:t>
            </a:r>
            <a:r>
              <a:rPr sz="1400" b="1" spc="-2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citation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support,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zero</a:t>
            </a:r>
            <a:r>
              <a:rPr sz="1400" b="1" spc="-2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fabricated</a:t>
            </a:r>
            <a:r>
              <a:rPr sz="14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1F4E78"/>
                </a:solidFill>
                <a:latin typeface="Calibri"/>
                <a:cs typeface="Calibri"/>
              </a:rPr>
              <a:t>IDs.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B0F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solidFill>
                  <a:srgbClr val="FFDDE0"/>
                </a:solidFill>
              </a:rPr>
              <a:t>How</a:t>
            </a:r>
            <a:r>
              <a:rPr sz="3100" spc="-75" dirty="0">
                <a:solidFill>
                  <a:srgbClr val="FFDDE0"/>
                </a:solidFill>
              </a:rPr>
              <a:t> </a:t>
            </a:r>
            <a:r>
              <a:rPr sz="3100" dirty="0">
                <a:solidFill>
                  <a:srgbClr val="FFDDE0"/>
                </a:solidFill>
              </a:rPr>
              <a:t>We</a:t>
            </a:r>
            <a:r>
              <a:rPr sz="3100" spc="-75" dirty="0">
                <a:solidFill>
                  <a:srgbClr val="FFDDE0"/>
                </a:solidFill>
              </a:rPr>
              <a:t> </a:t>
            </a:r>
            <a:r>
              <a:rPr sz="3100" dirty="0">
                <a:solidFill>
                  <a:srgbClr val="FFDDE0"/>
                </a:solidFill>
              </a:rPr>
              <a:t>Refine,</a:t>
            </a:r>
            <a:r>
              <a:rPr sz="3100" spc="-55" dirty="0">
                <a:solidFill>
                  <a:srgbClr val="FFDDE0"/>
                </a:solidFill>
              </a:rPr>
              <a:t> </a:t>
            </a:r>
            <a:r>
              <a:rPr sz="3100" dirty="0">
                <a:solidFill>
                  <a:srgbClr val="8FB3E0"/>
                </a:solidFill>
              </a:rPr>
              <a:t>Not</a:t>
            </a:r>
            <a:r>
              <a:rPr sz="3100" spc="-70" dirty="0">
                <a:solidFill>
                  <a:srgbClr val="8FB3E0"/>
                </a:solidFill>
              </a:rPr>
              <a:t> </a:t>
            </a:r>
            <a:r>
              <a:rPr sz="3100" spc="-10" dirty="0">
                <a:solidFill>
                  <a:srgbClr val="8FB3E0"/>
                </a:solidFill>
              </a:rPr>
              <a:t>Restart</a:t>
            </a:r>
            <a:endParaRPr sz="3100"/>
          </a:p>
        </p:txBody>
      </p:sp>
      <p:sp>
        <p:nvSpPr>
          <p:cNvPr id="4" name="object 4"/>
          <p:cNvSpPr txBox="1"/>
          <p:nvPr/>
        </p:nvSpPr>
        <p:spPr>
          <a:xfrm>
            <a:off x="365759" y="1005839"/>
            <a:ext cx="3291840" cy="2468880"/>
          </a:xfrm>
          <a:prstGeom prst="rect">
            <a:avLst/>
          </a:prstGeom>
          <a:solidFill>
            <a:srgbClr val="4A0A0D"/>
          </a:solidFill>
          <a:ln w="952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10" dirty="0">
                <a:solidFill>
                  <a:srgbClr val="FFDDE0"/>
                </a:solidFill>
                <a:latin typeface="Calibri"/>
                <a:cs typeface="Calibri"/>
              </a:rPr>
              <a:t>ANSWER</a:t>
            </a:r>
            <a:r>
              <a:rPr sz="1400" b="1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DDE0"/>
                </a:solidFill>
                <a:latin typeface="Calibri"/>
                <a:cs typeface="Calibri"/>
              </a:rPr>
              <a:t>v1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640" y="1417319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3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0"/>
              </a:spcBef>
            </a:pP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Warranty</a:t>
            </a:r>
            <a:r>
              <a:rPr sz="12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coverage</a:t>
            </a:r>
            <a:r>
              <a:rPr sz="12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[cited]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2064" y="1672844"/>
            <a:ext cx="1618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5080" indent="-17589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DDE0"/>
                </a:solidFill>
                <a:latin typeface="Calibri"/>
                <a:cs typeface="Calibri"/>
              </a:rPr>
              <a:t>Late</a:t>
            </a:r>
            <a:r>
              <a:rPr sz="12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DDE0"/>
                </a:solidFill>
                <a:latin typeface="Calibri"/>
                <a:cs typeface="Calibri"/>
              </a:rPr>
              <a:t>detail:</a:t>
            </a:r>
            <a:r>
              <a:rPr sz="12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DDE0"/>
                </a:solidFill>
                <a:latin typeface="Calibri"/>
                <a:cs typeface="Calibri"/>
              </a:rPr>
              <a:t>"bought</a:t>
            </a:r>
            <a:r>
              <a:rPr sz="12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DDE0"/>
                </a:solidFill>
                <a:latin typeface="Calibri"/>
                <a:cs typeface="Calibri"/>
              </a:rPr>
              <a:t>from </a:t>
            </a:r>
            <a:r>
              <a:rPr sz="1200" b="1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200" b="1" spc="-1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DDE0"/>
                </a:solidFill>
                <a:latin typeface="Calibri"/>
                <a:cs typeface="Calibri"/>
              </a:rPr>
              <a:t>third-</a:t>
            </a:r>
            <a:r>
              <a:rPr sz="1200" b="1" dirty="0">
                <a:solidFill>
                  <a:srgbClr val="FFDDE0"/>
                </a:solidFill>
                <a:latin typeface="Calibri"/>
                <a:cs typeface="Calibri"/>
              </a:rPr>
              <a:t>party</a:t>
            </a:r>
            <a:r>
              <a:rPr sz="1200" b="1" spc="-1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DDE0"/>
                </a:solidFill>
                <a:latin typeface="Calibri"/>
                <a:cs typeface="Calibri"/>
              </a:rPr>
              <a:t>seller"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640" y="2057400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3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0"/>
              </a:spcBef>
            </a:pP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Repair</a:t>
            </a:r>
            <a:r>
              <a:rPr sz="1200" b="1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B0F14"/>
                </a:solidFill>
                <a:latin typeface="Calibri"/>
                <a:cs typeface="Calibri"/>
              </a:rPr>
              <a:t>time</a:t>
            </a:r>
            <a:r>
              <a:rPr sz="120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[cited]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640" y="2697479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3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0"/>
              </a:spcBef>
            </a:pPr>
            <a:r>
              <a:rPr sz="1200" b="1" dirty="0">
                <a:solidFill>
                  <a:srgbClr val="6B0F14"/>
                </a:solidFill>
                <a:latin typeface="Calibri"/>
                <a:cs typeface="Calibri"/>
              </a:rPr>
              <a:t>Loaner</a:t>
            </a:r>
            <a:r>
              <a:rPr sz="12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availability</a:t>
            </a:r>
            <a:r>
              <a:rPr sz="12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B0F14"/>
                </a:solidFill>
                <a:latin typeface="Calibri"/>
                <a:cs typeface="Calibri"/>
              </a:rPr>
              <a:t>[cited]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0" y="1005839"/>
            <a:ext cx="3291840" cy="2468880"/>
          </a:xfrm>
          <a:prstGeom prst="rect">
            <a:avLst/>
          </a:prstGeom>
          <a:solidFill>
            <a:srgbClr val="4A0A0D"/>
          </a:solidFill>
          <a:ln w="952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10" dirty="0">
                <a:solidFill>
                  <a:srgbClr val="FFDDE0"/>
                </a:solidFill>
                <a:latin typeface="Calibri"/>
                <a:cs typeface="Calibri"/>
              </a:rPr>
              <a:t>ANSWER</a:t>
            </a:r>
            <a:r>
              <a:rPr sz="1400" b="1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DDE0"/>
                </a:solidFill>
                <a:latin typeface="Calibri"/>
                <a:cs typeface="Calibri"/>
              </a:rPr>
              <a:t>v2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9279" y="1417319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8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sz="1150" b="1" spc="-10" dirty="0">
                <a:solidFill>
                  <a:srgbClr val="5A0C11"/>
                </a:solidFill>
                <a:latin typeface="Calibri"/>
                <a:cs typeface="Calibri"/>
              </a:rPr>
              <a:t>Warranty:</a:t>
            </a:r>
            <a:r>
              <a:rPr sz="1150" b="1" spc="-4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A0C11"/>
                </a:solidFill>
                <a:latin typeface="Calibri"/>
                <a:cs typeface="Calibri"/>
              </a:rPr>
              <a:t>re-</a:t>
            </a:r>
            <a:r>
              <a:rPr sz="1150" b="1" dirty="0">
                <a:solidFill>
                  <a:srgbClr val="5A0C11"/>
                </a:solidFill>
                <a:latin typeface="Calibri"/>
                <a:cs typeface="Calibri"/>
              </a:rPr>
              <a:t>checked</a:t>
            </a:r>
            <a:r>
              <a:rPr sz="1150" b="1" spc="-4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A0C11"/>
                </a:solidFill>
                <a:latin typeface="Calibri"/>
                <a:cs typeface="Calibri"/>
              </a:rPr>
              <a:t>for</a:t>
            </a:r>
            <a:r>
              <a:rPr sz="1150" b="1" spc="-45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A0C11"/>
                </a:solidFill>
                <a:latin typeface="Calibri"/>
                <a:cs typeface="Calibri"/>
              </a:rPr>
              <a:t>third-</a:t>
            </a:r>
            <a:r>
              <a:rPr sz="1150" b="1" dirty="0">
                <a:solidFill>
                  <a:srgbClr val="5A0C11"/>
                </a:solidFill>
                <a:latin typeface="Calibri"/>
                <a:cs typeface="Calibri"/>
              </a:rPr>
              <a:t>party</a:t>
            </a:r>
            <a:r>
              <a:rPr sz="1150" b="1" spc="-40" dirty="0">
                <a:solidFill>
                  <a:srgbClr val="5A0C11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A0C11"/>
                </a:solidFill>
                <a:latin typeface="Calibri"/>
                <a:cs typeface="Calibri"/>
              </a:rPr>
              <a:t>purchase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94759" y="2466777"/>
            <a:ext cx="1533525" cy="95885"/>
            <a:chOff x="3794759" y="2466777"/>
            <a:chExt cx="1533525" cy="95885"/>
          </a:xfrm>
        </p:grpSpPr>
        <p:sp>
          <p:nvSpPr>
            <p:cNvPr id="14" name="object 14"/>
            <p:cNvSpPr/>
            <p:nvPr/>
          </p:nvSpPr>
          <p:spPr>
            <a:xfrm>
              <a:off x="3794759" y="2514599"/>
              <a:ext cx="1421130" cy="0"/>
            </a:xfrm>
            <a:custGeom>
              <a:avLst/>
              <a:gdLst/>
              <a:ahLst/>
              <a:cxnLst/>
              <a:rect l="l" t="t" r="r" b="b"/>
              <a:pathLst>
                <a:path w="1421129">
                  <a:moveTo>
                    <a:pt x="0" y="0"/>
                  </a:moveTo>
                  <a:lnTo>
                    <a:pt x="1421129" y="0"/>
                  </a:lnTo>
                </a:path>
              </a:pathLst>
            </a:custGeom>
            <a:ln w="22224">
              <a:solidFill>
                <a:srgbClr val="F16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777" y="2466777"/>
              <a:ext cx="123084" cy="956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669279" y="2057400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8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sz="1150" b="1" dirty="0">
                <a:solidFill>
                  <a:srgbClr val="6B0F14"/>
                </a:solidFill>
                <a:latin typeface="Calibri"/>
                <a:cs typeface="Calibri"/>
              </a:rPr>
              <a:t>Repair</a:t>
            </a:r>
            <a:r>
              <a:rPr sz="1150" b="1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6B0F14"/>
                </a:solidFill>
                <a:latin typeface="Calibri"/>
                <a:cs typeface="Calibri"/>
              </a:rPr>
              <a:t>time:</a:t>
            </a:r>
            <a:r>
              <a:rPr sz="1150" b="1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6B0F14"/>
                </a:solidFill>
                <a:latin typeface="Calibri"/>
                <a:cs typeface="Calibri"/>
              </a:rPr>
              <a:t>unchanged,</a:t>
            </a:r>
            <a:r>
              <a:rPr sz="1150" b="1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6B0F14"/>
                </a:solidFill>
                <a:latin typeface="Calibri"/>
                <a:cs typeface="Calibri"/>
              </a:rPr>
              <a:t>citation</a:t>
            </a:r>
            <a:r>
              <a:rPr sz="1150" b="1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spc="-20" dirty="0">
                <a:solidFill>
                  <a:srgbClr val="6B0F14"/>
                </a:solidFill>
                <a:latin typeface="Calibri"/>
                <a:cs typeface="Calibri"/>
              </a:rPr>
              <a:t>kept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9279" y="2697479"/>
            <a:ext cx="2926080" cy="50292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158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sz="1150" b="1" dirty="0">
                <a:solidFill>
                  <a:srgbClr val="6B0F14"/>
                </a:solidFill>
                <a:latin typeface="Calibri"/>
                <a:cs typeface="Calibri"/>
              </a:rPr>
              <a:t>Loaner</a:t>
            </a:r>
            <a:r>
              <a:rPr sz="1150" b="1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6B0F14"/>
                </a:solidFill>
                <a:latin typeface="Calibri"/>
                <a:cs typeface="Calibri"/>
              </a:rPr>
              <a:t>availability:</a:t>
            </a:r>
            <a:r>
              <a:rPr sz="1150" b="1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6B0F14"/>
                </a:solidFill>
                <a:latin typeface="Calibri"/>
                <a:cs typeface="Calibri"/>
              </a:rPr>
              <a:t>unchanged,</a:t>
            </a:r>
            <a:r>
              <a:rPr sz="1150" b="1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6B0F14"/>
                </a:solidFill>
                <a:latin typeface="Calibri"/>
                <a:cs typeface="Calibri"/>
              </a:rPr>
              <a:t>citation</a:t>
            </a:r>
            <a:r>
              <a:rPr sz="1150" b="1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150" b="1" spc="-20" dirty="0">
                <a:solidFill>
                  <a:srgbClr val="6B0F14"/>
                </a:solidFill>
                <a:latin typeface="Calibri"/>
                <a:cs typeface="Calibri"/>
              </a:rPr>
              <a:t>kept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59" y="3703320"/>
            <a:ext cx="1965960" cy="868680"/>
          </a:xfrm>
          <a:prstGeom prst="rect">
            <a:avLst/>
          </a:prstGeom>
          <a:solidFill>
            <a:srgbClr val="FFDDE0"/>
          </a:solidFill>
          <a:ln w="9524">
            <a:solidFill>
              <a:srgbClr val="4A0A0D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sz="13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1</a:t>
            </a:r>
            <a:r>
              <a:rPr sz="1350" b="1" spc="28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6B0F14"/>
                </a:solidFill>
                <a:latin typeface="Calibri"/>
                <a:cs typeface="Calibri"/>
              </a:rPr>
              <a:t>Slot-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diff:</a:t>
            </a:r>
            <a:r>
              <a:rPr sz="135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what</a:t>
            </a:r>
            <a:r>
              <a:rPr sz="1350" b="1" spc="-10" dirty="0">
                <a:solidFill>
                  <a:srgbClr val="6B0F14"/>
                </a:solidFill>
                <a:latin typeface="Calibri"/>
                <a:cs typeface="Calibri"/>
              </a:rPr>
              <a:t> changed?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4600" y="3703320"/>
            <a:ext cx="1965960" cy="868680"/>
          </a:xfrm>
          <a:prstGeom prst="rect">
            <a:avLst/>
          </a:prstGeom>
          <a:solidFill>
            <a:srgbClr val="FFDDE0"/>
          </a:solidFill>
          <a:ln w="9524">
            <a:solidFill>
              <a:srgbClr val="4A0A0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50">
              <a:latin typeface="Times New Roman"/>
              <a:cs typeface="Times New Roman"/>
            </a:endParaRPr>
          </a:p>
          <a:p>
            <a:pPr marL="220345" marR="205104" indent="-9525">
              <a:lnSpc>
                <a:spcPct val="100000"/>
              </a:lnSpc>
            </a:pP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2</a:t>
            </a:r>
            <a:r>
              <a:rPr sz="1350" b="1" spc="2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Find</a:t>
            </a:r>
            <a:r>
              <a:rPr sz="1350" b="1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stale</a:t>
            </a:r>
            <a:r>
              <a:rPr sz="1350" b="1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claims</a:t>
            </a:r>
            <a:r>
              <a:rPr sz="1350" b="1" spc="-3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25" dirty="0">
                <a:solidFill>
                  <a:srgbClr val="6B0F14"/>
                </a:solidFill>
                <a:latin typeface="Calibri"/>
                <a:cs typeface="Calibri"/>
              </a:rPr>
              <a:t>by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embedding</a:t>
            </a:r>
            <a:r>
              <a:rPr sz="1350" b="1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6B0F14"/>
                </a:solidFill>
                <a:latin typeface="Calibri"/>
                <a:cs typeface="Calibri"/>
              </a:rPr>
              <a:t>proximity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3440" y="3703320"/>
            <a:ext cx="1965960" cy="868680"/>
          </a:xfrm>
          <a:prstGeom prst="rect">
            <a:avLst/>
          </a:prstGeom>
          <a:solidFill>
            <a:srgbClr val="FFDDE0"/>
          </a:solidFill>
          <a:ln w="9524">
            <a:solidFill>
              <a:srgbClr val="4A0A0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350">
              <a:latin typeface="Times New Roman"/>
              <a:cs typeface="Times New Roman"/>
            </a:endParaRPr>
          </a:p>
          <a:p>
            <a:pPr marL="577215" marR="215265" indent="-356235">
              <a:lnSpc>
                <a:spcPct val="100000"/>
              </a:lnSpc>
            </a:pP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3</a:t>
            </a:r>
            <a:r>
              <a:rPr sz="1350" b="1" spc="28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6B0F14"/>
                </a:solidFill>
                <a:latin typeface="Calibri"/>
                <a:cs typeface="Calibri"/>
              </a:rPr>
              <a:t>Re-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search</a:t>
            </a:r>
            <a:r>
              <a:rPr sz="135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a</a:t>
            </a:r>
            <a:r>
              <a:rPr sz="1350" b="1" spc="-10" dirty="0">
                <a:solidFill>
                  <a:srgbClr val="6B0F14"/>
                </a:solidFill>
                <a:latin typeface="Calibri"/>
                <a:cs typeface="Calibri"/>
              </a:rPr>
              <a:t> scoped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subset</a:t>
            </a:r>
            <a:r>
              <a:rPr sz="1350" b="1" spc="-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6B0F14"/>
                </a:solidFill>
                <a:latin typeface="Calibri"/>
                <a:cs typeface="Calibri"/>
              </a:rPr>
              <a:t>only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12280" y="3703320"/>
            <a:ext cx="1991360" cy="868680"/>
          </a:xfrm>
          <a:prstGeom prst="rect">
            <a:avLst/>
          </a:prstGeom>
          <a:solidFill>
            <a:srgbClr val="FFDDE0"/>
          </a:solidFill>
          <a:ln w="9524">
            <a:solidFill>
              <a:srgbClr val="4A0A0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R="12065">
              <a:lnSpc>
                <a:spcPct val="100000"/>
              </a:lnSpc>
              <a:spcBef>
                <a:spcPts val="190"/>
              </a:spcBef>
            </a:pPr>
            <a:endParaRPr sz="1350">
              <a:latin typeface="Times New Roman"/>
              <a:cs typeface="Times New Roman"/>
            </a:endParaRPr>
          </a:p>
          <a:p>
            <a:pPr marL="27305" algn="ctr">
              <a:lnSpc>
                <a:spcPct val="100000"/>
              </a:lnSpc>
            </a:pP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4</a:t>
            </a:r>
            <a:r>
              <a:rPr sz="1350" b="1" spc="26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spc="-25" dirty="0">
                <a:solidFill>
                  <a:srgbClr val="6B0F14"/>
                </a:solidFill>
                <a:latin typeface="Calibri"/>
                <a:cs typeface="Calibri"/>
              </a:rPr>
              <a:t>Re-</a:t>
            </a:r>
            <a:r>
              <a:rPr sz="1350" b="1" spc="-10" dirty="0">
                <a:solidFill>
                  <a:srgbClr val="6B0F14"/>
                </a:solidFill>
                <a:latin typeface="Calibri"/>
                <a:cs typeface="Calibri"/>
              </a:rPr>
              <a:t>verify,</a:t>
            </a:r>
            <a:r>
              <a:rPr sz="1350" b="1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6B0F14"/>
                </a:solidFill>
                <a:latin typeface="Calibri"/>
                <a:cs typeface="Calibri"/>
              </a:rPr>
              <a:t>answer</a:t>
            </a:r>
            <a:r>
              <a:rPr sz="1350" b="1" spc="-10" dirty="0">
                <a:solidFill>
                  <a:srgbClr val="6B0F14"/>
                </a:solidFill>
                <a:latin typeface="Calibri"/>
                <a:cs typeface="Calibri"/>
              </a:rPr>
              <a:t> version</a:t>
            </a:r>
            <a:endParaRPr sz="1350">
              <a:latin typeface="Calibri"/>
              <a:cs typeface="Calibri"/>
            </a:endParaRPr>
          </a:p>
          <a:p>
            <a:pPr marR="12065" algn="ctr">
              <a:lnSpc>
                <a:spcPct val="100000"/>
              </a:lnSpc>
            </a:pPr>
            <a:r>
              <a:rPr sz="1350" b="1" spc="-25" dirty="0">
                <a:solidFill>
                  <a:srgbClr val="6B0F14"/>
                </a:solidFill>
                <a:latin typeface="Calibri"/>
                <a:cs typeface="Calibri"/>
              </a:rPr>
              <a:t>+1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6B0F14"/>
                </a:solidFill>
              </a:rPr>
              <a:t>Live</a:t>
            </a:r>
            <a:r>
              <a:rPr sz="3200" spc="-40" dirty="0">
                <a:solidFill>
                  <a:srgbClr val="6B0F14"/>
                </a:solidFill>
              </a:rPr>
              <a:t> </a:t>
            </a:r>
            <a:r>
              <a:rPr sz="3200" dirty="0">
                <a:solidFill>
                  <a:srgbClr val="6B0F14"/>
                </a:solidFill>
              </a:rPr>
              <a:t>Demo</a:t>
            </a:r>
            <a:r>
              <a:rPr sz="3200" spc="-40" dirty="0">
                <a:solidFill>
                  <a:srgbClr val="6B0F14"/>
                </a:solidFill>
              </a:rPr>
              <a:t> </a:t>
            </a:r>
            <a:r>
              <a:rPr sz="3200" dirty="0">
                <a:solidFill>
                  <a:srgbClr val="6B0F14"/>
                </a:solidFill>
              </a:rPr>
              <a:t>/</a:t>
            </a:r>
            <a:r>
              <a:rPr sz="3200" spc="-40" dirty="0">
                <a:solidFill>
                  <a:srgbClr val="6B0F14"/>
                </a:solidFill>
              </a:rPr>
              <a:t> </a:t>
            </a:r>
            <a:r>
              <a:rPr sz="3200" dirty="0"/>
              <a:t>Timeline</a:t>
            </a:r>
            <a:r>
              <a:rPr sz="3200" spc="-40" dirty="0"/>
              <a:t> </a:t>
            </a:r>
            <a:r>
              <a:rPr sz="3200" spc="-20" dirty="0"/>
              <a:t>View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0997" y="1001077"/>
          <a:ext cx="8498205" cy="321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sz="13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happens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t+0.4s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WAIT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Buffer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too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vague,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cluster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match.</a:t>
                      </a:r>
                      <a:r>
                        <a:rPr sz="1350" spc="-3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350" spc="-3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search.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t+0.9s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RETRIEVE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Clear</a:t>
                      </a:r>
                      <a:r>
                        <a:rPr sz="13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topic</a:t>
                      </a:r>
                      <a:r>
                        <a:rPr sz="1350" spc="-4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match.</a:t>
                      </a:r>
                      <a:r>
                        <a:rPr sz="13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1350" spc="-4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branch</a:t>
                      </a:r>
                      <a:r>
                        <a:rPr sz="13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forked</a:t>
                      </a:r>
                      <a:r>
                        <a:rPr sz="1350" spc="-4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early.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t+1.6s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FORK</a:t>
                      </a:r>
                      <a:r>
                        <a:rPr sz="1350" b="1" spc="-6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×N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Near-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tied</a:t>
                      </a:r>
                      <a:r>
                        <a:rPr sz="13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clusters.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Up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3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retrieval-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branches.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t+2.0s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DECOMPOSE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clauses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become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independent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sub-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queries.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t+2.3s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ANSWER</a:t>
                      </a:r>
                      <a:r>
                        <a:rPr sz="1350" b="1" spc="-7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v1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Streamed</a:t>
                      </a:r>
                      <a:r>
                        <a:rPr sz="1350" spc="-3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answer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[Doc_ID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§Section]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citations.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t+3.5s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5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PATCH</a:t>
                      </a:r>
                      <a:r>
                        <a:rPr sz="1350" b="1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1350" b="1" spc="-65" dirty="0">
                          <a:solidFill>
                            <a:srgbClr val="6B0F1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3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v2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Late</a:t>
                      </a:r>
                      <a:r>
                        <a:rPr sz="1350" spc="-4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detail.</a:t>
                      </a:r>
                      <a:r>
                        <a:rPr sz="1350" spc="-4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350" spc="-4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stale</a:t>
                      </a:r>
                      <a:r>
                        <a:rPr sz="1350" spc="-4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claims</a:t>
                      </a:r>
                      <a:r>
                        <a:rPr sz="1350" spc="-4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2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re-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searched.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6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t+4.1s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b="1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SUPPRESS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"Repeat</a:t>
                      </a:r>
                      <a:r>
                        <a:rPr sz="1350" spc="-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that in two</a:t>
                      </a:r>
                      <a:r>
                        <a:rPr sz="1350" spc="-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bullets":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2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retrieval_required</a:t>
                      </a:r>
                      <a:r>
                        <a:rPr sz="13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= </a:t>
                      </a:r>
                      <a:r>
                        <a:rPr sz="1350" spc="-1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false.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9525">
                      <a:solidFill>
                        <a:srgbClr val="D9B8BB"/>
                      </a:solidFill>
                      <a:prstDash val="solid"/>
                    </a:lnL>
                    <a:lnR w="9525">
                      <a:solidFill>
                        <a:srgbClr val="D9B8BB"/>
                      </a:solidFill>
                      <a:prstDash val="solid"/>
                    </a:lnR>
                    <a:lnT w="9525">
                      <a:solidFill>
                        <a:srgbClr val="D9B8BB"/>
                      </a:solidFill>
                      <a:prstDash val="solid"/>
                    </a:lnT>
                    <a:lnB w="9525">
                      <a:solidFill>
                        <a:srgbClr val="D9B8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B0F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DDE0"/>
                </a:solidFill>
              </a:rPr>
              <a:t>Benchmark</a:t>
            </a:r>
            <a:r>
              <a:rPr sz="3200" spc="-55" dirty="0">
                <a:solidFill>
                  <a:srgbClr val="FFDDE0"/>
                </a:solidFill>
              </a:rPr>
              <a:t> </a:t>
            </a:r>
            <a:r>
              <a:rPr sz="3200" spc="-10" dirty="0">
                <a:solidFill>
                  <a:srgbClr val="8FB3E0"/>
                </a:solidFill>
              </a:rPr>
              <a:t>Results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0997" y="1001077"/>
          <a:ext cx="8498205" cy="321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Criterion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Batch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Reproducibility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r>
                        <a:rPr sz="1400" spc="-5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4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fail:</a:t>
                      </a:r>
                      <a:r>
                        <a:rPr sz="1400" spc="-4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4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r>
                        <a:rPr sz="1400" spc="-7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retrieval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55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≥</a:t>
                      </a:r>
                      <a:r>
                        <a:rPr sz="1400" spc="-60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80%</a:t>
                      </a:r>
                      <a:r>
                        <a:rPr sz="14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eligible queries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intent</a:t>
                      </a:r>
                      <a:r>
                        <a:rPr sz="1400" spc="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identification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55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≥</a:t>
                      </a:r>
                      <a:r>
                        <a:rPr sz="1400" spc="-60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70%</a:t>
                      </a:r>
                      <a:r>
                        <a:rPr sz="1400" spc="-3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compound</a:t>
                      </a:r>
                      <a:r>
                        <a:rPr sz="14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queries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Factual</a:t>
                      </a:r>
                      <a:r>
                        <a:rPr sz="1400" spc="-3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grounding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55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≥</a:t>
                      </a:r>
                      <a:r>
                        <a:rPr sz="1400" spc="-60" dirty="0">
                          <a:solidFill>
                            <a:srgbClr val="6B0F1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85%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support,</a:t>
                      </a:r>
                      <a:r>
                        <a:rPr sz="14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fabricated</a:t>
                      </a:r>
                      <a:r>
                        <a:rPr sz="14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IDs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Session</a:t>
                      </a:r>
                      <a:r>
                        <a:rPr sz="1400" spc="-8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refinement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Verified</a:t>
                      </a:r>
                      <a:r>
                        <a:rPr sz="14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sz="1400" spc="-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continuity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spc="-2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G6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Telemetry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r>
                        <a:rPr sz="1400" spc="-45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trace</a:t>
                      </a:r>
                      <a:r>
                        <a:rPr sz="1400" spc="-4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6B0F14"/>
                          </a:solidFill>
                          <a:latin typeface="Calibri"/>
                          <a:cs typeface="Calibri"/>
                        </a:rPr>
                        <a:t>coverage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777777"/>
                          </a:solidFill>
                          <a:latin typeface="Calibri"/>
                          <a:cs typeface="Calibri"/>
                        </a:rPr>
                        <a:t>measure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6B0F14"/>
                      </a:solidFill>
                      <a:prstDash val="solid"/>
                    </a:lnL>
                    <a:lnR w="9525">
                      <a:solidFill>
                        <a:srgbClr val="6B0F14"/>
                      </a:solidFill>
                      <a:prstDash val="solid"/>
                    </a:lnR>
                    <a:lnT w="9525">
                      <a:solidFill>
                        <a:srgbClr val="6B0F14"/>
                      </a:solidFill>
                      <a:prstDash val="solid"/>
                    </a:lnT>
                    <a:lnB w="9525">
                      <a:solidFill>
                        <a:srgbClr val="6B0F14"/>
                      </a:solidFill>
                      <a:prstDash val="solid"/>
                    </a:lnB>
                    <a:solidFill>
                      <a:srgbClr val="FF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D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6B0F14"/>
                </a:solidFill>
              </a:rPr>
              <a:t>Engineering</a:t>
            </a:r>
            <a:r>
              <a:rPr sz="3000" spc="-45" dirty="0">
                <a:solidFill>
                  <a:srgbClr val="6B0F14"/>
                </a:solidFill>
              </a:rPr>
              <a:t> </a:t>
            </a:r>
            <a:r>
              <a:rPr sz="3000" spc="-25" dirty="0">
                <a:solidFill>
                  <a:srgbClr val="6B0F14"/>
                </a:solidFill>
              </a:rPr>
              <a:t>Trade-</a:t>
            </a:r>
            <a:r>
              <a:rPr sz="3000" dirty="0">
                <a:solidFill>
                  <a:srgbClr val="6B0F14"/>
                </a:solidFill>
              </a:rPr>
              <a:t>offs</a:t>
            </a:r>
            <a:r>
              <a:rPr sz="3000" spc="-45" dirty="0">
                <a:solidFill>
                  <a:srgbClr val="6B0F14"/>
                </a:solidFill>
              </a:rPr>
              <a:t> </a:t>
            </a:r>
            <a:r>
              <a:rPr sz="3000" dirty="0">
                <a:solidFill>
                  <a:srgbClr val="6B0F14"/>
                </a:solidFill>
              </a:rPr>
              <a:t>/</a:t>
            </a:r>
            <a:r>
              <a:rPr sz="3000" spc="-5" dirty="0">
                <a:solidFill>
                  <a:srgbClr val="6B0F14"/>
                </a:solidFill>
              </a:rPr>
              <a:t> </a:t>
            </a:r>
            <a:r>
              <a:rPr sz="3000" spc="-10" dirty="0">
                <a:solidFill>
                  <a:srgbClr val="063763"/>
                </a:solidFill>
              </a:rPr>
              <a:t>Ablations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365759" y="1005839"/>
            <a:ext cx="4114800" cy="1600200"/>
          </a:xfrm>
          <a:prstGeom prst="rect">
            <a:avLst/>
          </a:prstGeom>
          <a:solidFill>
            <a:srgbClr val="F6E9EB"/>
          </a:solidFill>
          <a:ln w="9524">
            <a:solidFill>
              <a:srgbClr val="4A0A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090"/>
              </a:lnSpc>
            </a:pP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Ablation</a:t>
            </a:r>
            <a:r>
              <a:rPr sz="1800" b="1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1:</a:t>
            </a:r>
            <a:r>
              <a:rPr sz="1800" b="1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hybrid</a:t>
            </a:r>
            <a:r>
              <a:rPr sz="1800" b="1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vs</a:t>
            </a:r>
            <a:r>
              <a:rPr sz="1800" b="1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22222"/>
                </a:solidFill>
                <a:latin typeface="Calibri"/>
                <a:cs typeface="Calibri"/>
              </a:rPr>
              <a:t>dense-</a:t>
            </a:r>
            <a:r>
              <a:rPr sz="1800" b="1" spc="-20" dirty="0">
                <a:solidFill>
                  <a:srgbClr val="222222"/>
                </a:solidFill>
                <a:latin typeface="Calibri"/>
                <a:cs typeface="Calibri"/>
              </a:rPr>
              <a:t>only</a:t>
            </a:r>
            <a:endParaRPr sz="1800">
              <a:latin typeface="Calibri"/>
              <a:cs typeface="Calibri"/>
            </a:endParaRPr>
          </a:p>
          <a:p>
            <a:pPr marR="645160" algn="just">
              <a:lnSpc>
                <a:spcPct val="100000"/>
              </a:lnSpc>
              <a:spcBef>
                <a:spcPts val="10"/>
              </a:spcBef>
            </a:pP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BM25</a:t>
            </a:r>
            <a:r>
              <a:rPr sz="1550" spc="-4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+</a:t>
            </a:r>
            <a:r>
              <a:rPr sz="1550" spc="-4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22222"/>
                </a:solidFill>
                <a:latin typeface="Calibri"/>
                <a:cs typeface="Calibri"/>
              </a:rPr>
              <a:t>FAISS</a:t>
            </a:r>
            <a:r>
              <a:rPr sz="1550" spc="-4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with</a:t>
            </a:r>
            <a:r>
              <a:rPr sz="1550" spc="-3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RRF</a:t>
            </a:r>
            <a:r>
              <a:rPr sz="1550" spc="-4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against</a:t>
            </a:r>
            <a:r>
              <a:rPr sz="1550" spc="-4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222222"/>
                </a:solidFill>
                <a:latin typeface="Calibri"/>
                <a:cs typeface="Calibri"/>
              </a:rPr>
              <a:t>FAISS</a:t>
            </a:r>
            <a:r>
              <a:rPr sz="1550" spc="-3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alone.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Measure</a:t>
            </a:r>
            <a:r>
              <a:rPr sz="1550" spc="-5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citation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support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(G4)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and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retrieval precision.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3440" y="1005839"/>
            <a:ext cx="4114800" cy="1600200"/>
          </a:xfrm>
          <a:prstGeom prst="rect">
            <a:avLst/>
          </a:prstGeom>
          <a:solidFill>
            <a:srgbClr val="F6E9EB"/>
          </a:solidFill>
          <a:ln w="9524">
            <a:solidFill>
              <a:srgbClr val="4A0A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471170">
              <a:lnSpc>
                <a:spcPts val="2160"/>
              </a:lnSpc>
            </a:pP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Ablation</a:t>
            </a:r>
            <a:r>
              <a:rPr sz="1800" b="1" spc="-1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2:</a:t>
            </a:r>
            <a:r>
              <a:rPr sz="1800" b="1" spc="-1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22222"/>
                </a:solidFill>
                <a:latin typeface="Calibri"/>
                <a:cs typeface="Calibri"/>
              </a:rPr>
              <a:t>rule-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based</a:t>
            </a:r>
            <a:r>
              <a:rPr sz="1800" b="1" spc="-1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22222"/>
                </a:solidFill>
                <a:latin typeface="Calibri"/>
                <a:cs typeface="Calibri"/>
              </a:rPr>
              <a:t>vs</a:t>
            </a:r>
            <a:r>
              <a:rPr sz="1800" b="1" spc="-1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22222"/>
                </a:solidFill>
                <a:latin typeface="Calibri"/>
                <a:cs typeface="Calibri"/>
              </a:rPr>
              <a:t>model-based controller</a:t>
            </a:r>
            <a:endParaRPr sz="1800">
              <a:latin typeface="Calibri"/>
              <a:cs typeface="Calibri"/>
            </a:endParaRPr>
          </a:p>
          <a:p>
            <a:pPr marR="86360">
              <a:lnSpc>
                <a:spcPts val="1860"/>
              </a:lnSpc>
            </a:pPr>
            <a:r>
              <a:rPr sz="1550" spc="-35" dirty="0">
                <a:solidFill>
                  <a:srgbClr val="222222"/>
                </a:solidFill>
                <a:latin typeface="Calibri"/>
                <a:cs typeface="Calibri"/>
              </a:rPr>
              <a:t>Vector-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math</a:t>
            </a:r>
            <a:r>
              <a:rPr sz="1550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fork</a:t>
            </a:r>
            <a:r>
              <a:rPr sz="1550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policy</a:t>
            </a:r>
            <a:r>
              <a:rPr sz="1550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against</a:t>
            </a:r>
            <a:r>
              <a:rPr sz="1550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an</a:t>
            </a:r>
            <a:r>
              <a:rPr sz="1550" spc="-2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LLM</a:t>
            </a:r>
            <a:r>
              <a:rPr sz="1550" spc="-3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deciding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when</a:t>
            </a:r>
            <a:r>
              <a:rPr sz="1550" spc="-5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to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search.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Measure</a:t>
            </a:r>
            <a:r>
              <a:rPr sz="1550" spc="-5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early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retrieval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(G2),</a:t>
            </a:r>
            <a:r>
              <a:rPr sz="1550" spc="-45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false </a:t>
            </a:r>
            <a:r>
              <a:rPr sz="1550" dirty="0">
                <a:solidFill>
                  <a:srgbClr val="222222"/>
                </a:solidFill>
                <a:latin typeface="Calibri"/>
                <a:cs typeface="Calibri"/>
              </a:rPr>
              <a:t>triggers,</a:t>
            </a:r>
            <a:r>
              <a:rPr sz="1550" spc="-80" dirty="0">
                <a:solidFill>
                  <a:srgbClr val="22222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22222"/>
                </a:solidFill>
                <a:latin typeface="Calibri"/>
                <a:cs typeface="Calibri"/>
              </a:rPr>
              <a:t>latency.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759" y="2788920"/>
            <a:ext cx="8412480" cy="1188720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-20" dirty="0">
                <a:solidFill>
                  <a:srgbClr val="FFDDE0"/>
                </a:solidFill>
                <a:latin typeface="Calibri"/>
                <a:cs typeface="Calibri"/>
              </a:rPr>
              <a:t>Edge-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case</a:t>
            </a:r>
            <a:r>
              <a:rPr sz="18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failures</a:t>
            </a:r>
            <a:r>
              <a:rPr sz="18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to</a:t>
            </a:r>
            <a:r>
              <a:rPr sz="18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document</a:t>
            </a:r>
            <a:r>
              <a:rPr sz="18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(at</a:t>
            </a:r>
            <a:r>
              <a:rPr sz="1800" b="1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DDE0"/>
                </a:solidFill>
                <a:latin typeface="Calibri"/>
                <a:cs typeface="Calibri"/>
              </a:rPr>
              <a:t>least</a:t>
            </a:r>
            <a:r>
              <a:rPr sz="18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DDE0"/>
                </a:solidFill>
                <a:latin typeface="Calibri"/>
                <a:cs typeface="Calibri"/>
              </a:rPr>
              <a:t>3)</a:t>
            </a:r>
            <a:endParaRPr sz="1800">
              <a:latin typeface="Calibri"/>
              <a:cs typeface="Calibri"/>
            </a:endParaRPr>
          </a:p>
          <a:p>
            <a:pPr marR="38100">
              <a:lnSpc>
                <a:spcPct val="100000"/>
              </a:lnSpc>
              <a:spcBef>
                <a:spcPts val="10"/>
              </a:spcBef>
            </a:pP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Candidates:</a:t>
            </a:r>
            <a:r>
              <a:rPr sz="15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premature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retrieval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on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noise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·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spc="-30" dirty="0">
                <a:solidFill>
                  <a:srgbClr val="FFDDE0"/>
                </a:solidFill>
                <a:latin typeface="Calibri"/>
                <a:cs typeface="Calibri"/>
              </a:rPr>
              <a:t>over-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fragmented</a:t>
            </a:r>
            <a:r>
              <a:rPr sz="15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sub-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queries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·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late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detail</a:t>
            </a:r>
            <a:r>
              <a:rPr sz="15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that</a:t>
            </a:r>
            <a:r>
              <a:rPr sz="15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should</a:t>
            </a:r>
            <a:r>
              <a:rPr sz="1550" spc="-1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change </a:t>
            </a:r>
            <a:r>
              <a:rPr sz="1550" dirty="0">
                <a:solidFill>
                  <a:srgbClr val="FFDDE0"/>
                </a:solidFill>
                <a:latin typeface="Calibri"/>
                <a:cs typeface="Calibri"/>
              </a:rPr>
              <a:t>no</a:t>
            </a:r>
            <a:r>
              <a:rPr sz="1550" spc="-10" dirty="0">
                <a:solidFill>
                  <a:srgbClr val="FFDDE0"/>
                </a:solidFill>
                <a:latin typeface="Calibri"/>
                <a:cs typeface="Calibri"/>
              </a:rPr>
              <a:t> claim.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060" y="4354068"/>
            <a:ext cx="7275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1F4E78"/>
                </a:solidFill>
                <a:latin typeface="Calibri"/>
                <a:cs typeface="Calibri"/>
              </a:rPr>
              <a:t>Parsimony: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two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small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shared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models,</a:t>
            </a:r>
            <a:r>
              <a:rPr sz="1400" b="1" spc="-3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no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agent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per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stage.</a:t>
            </a:r>
            <a:r>
              <a:rPr sz="1400" b="1" spc="-3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Every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component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must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justify</a:t>
            </a:r>
            <a:r>
              <a:rPr sz="1400" b="1" spc="-3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4E78"/>
                </a:solidFill>
                <a:latin typeface="Calibri"/>
                <a:cs typeface="Calibri"/>
              </a:rPr>
              <a:t>its</a:t>
            </a:r>
            <a:r>
              <a:rPr sz="140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4E78"/>
                </a:solidFill>
                <a:latin typeface="Calibri"/>
                <a:cs typeface="Calibri"/>
              </a:rPr>
              <a:t>latency.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B0F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DDE0"/>
                </a:solidFill>
              </a:rPr>
              <a:t>Why</a:t>
            </a:r>
            <a:r>
              <a:rPr sz="3200" spc="-55" dirty="0">
                <a:solidFill>
                  <a:srgbClr val="FFDDE0"/>
                </a:solidFill>
              </a:rPr>
              <a:t> </a:t>
            </a:r>
            <a:r>
              <a:rPr sz="3200" dirty="0">
                <a:solidFill>
                  <a:srgbClr val="FFDDE0"/>
                </a:solidFill>
              </a:rPr>
              <a:t>It</a:t>
            </a:r>
            <a:r>
              <a:rPr sz="3200" spc="-45" dirty="0">
                <a:solidFill>
                  <a:srgbClr val="FFDDE0"/>
                </a:solidFill>
              </a:rPr>
              <a:t> </a:t>
            </a:r>
            <a:r>
              <a:rPr sz="3200" spc="-20" dirty="0">
                <a:solidFill>
                  <a:srgbClr val="8FB3E0"/>
                </a:solidFill>
              </a:rPr>
              <a:t>Wins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65759" y="1005839"/>
            <a:ext cx="640080" cy="640080"/>
          </a:xfrm>
          <a:prstGeom prst="rect">
            <a:avLst/>
          </a:prstGeom>
          <a:solidFill>
            <a:srgbClr val="F16B21"/>
          </a:solidFill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280" y="1005839"/>
            <a:ext cx="7680959" cy="64008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Direct</a:t>
            </a:r>
            <a:r>
              <a:rPr sz="1500" b="1" spc="-7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gate</a:t>
            </a:r>
            <a:r>
              <a:rPr sz="1500" b="1" spc="-7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alignment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Every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design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choice</a:t>
            </a:r>
            <a:r>
              <a:rPr sz="13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maps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to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scored</a:t>
            </a:r>
            <a:r>
              <a:rPr sz="13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gates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6B0F14"/>
                </a:solidFill>
                <a:latin typeface="Calibri"/>
                <a:cs typeface="Calibri"/>
              </a:rPr>
              <a:t>G1–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G6.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759" y="1764792"/>
            <a:ext cx="640080" cy="640080"/>
          </a:xfrm>
          <a:prstGeom prst="rect">
            <a:avLst/>
          </a:prstGeom>
          <a:solidFill>
            <a:srgbClr val="F16B21"/>
          </a:solidFill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7280" y="1764792"/>
            <a:ext cx="7680959" cy="64008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Architectural</a:t>
            </a:r>
            <a:r>
              <a:rPr sz="1500" b="1" spc="-1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parsimony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Two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small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shared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models</a:t>
            </a:r>
            <a:r>
              <a:rPr sz="13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instead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of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one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agent</a:t>
            </a:r>
            <a:r>
              <a:rPr sz="1350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per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stage.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759" y="2523744"/>
            <a:ext cx="640080" cy="640080"/>
          </a:xfrm>
          <a:prstGeom prst="rect">
            <a:avLst/>
          </a:prstGeom>
          <a:solidFill>
            <a:srgbClr val="F16B21"/>
          </a:solidFill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80" y="2523744"/>
            <a:ext cx="7680959" cy="64008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Cannot</a:t>
            </a:r>
            <a:r>
              <a:rPr sz="1500" b="1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fabricate</a:t>
            </a:r>
            <a:r>
              <a:rPr sz="1500" b="1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citations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3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generator</a:t>
            </a:r>
            <a:r>
              <a:rPr sz="13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only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ever</a:t>
            </a:r>
            <a:r>
              <a:rPr sz="13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sees</a:t>
            </a:r>
            <a:r>
              <a:rPr sz="13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anonymised</a:t>
            </a:r>
            <a:r>
              <a:rPr sz="1350" spc="-4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chunk</a:t>
            </a:r>
            <a:r>
              <a:rPr sz="1350" spc="-5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indices.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59" y="3282696"/>
            <a:ext cx="640080" cy="640080"/>
          </a:xfrm>
          <a:prstGeom prst="rect">
            <a:avLst/>
          </a:prstGeom>
          <a:solidFill>
            <a:srgbClr val="F16B21"/>
          </a:solidFill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7280" y="3282696"/>
            <a:ext cx="7680959" cy="64008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Claim-</a:t>
            </a: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level</a:t>
            </a:r>
            <a:r>
              <a:rPr sz="1500" b="1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patching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3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hardest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requirement,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done</a:t>
            </a:r>
            <a:r>
              <a:rPr sz="13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properly,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not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6B0F14"/>
                </a:solidFill>
                <a:latin typeface="Calibri"/>
                <a:cs typeface="Calibri"/>
              </a:rPr>
              <a:t>"re-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run</a:t>
            </a:r>
            <a:r>
              <a:rPr sz="1350" spc="-3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everything".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759" y="4041647"/>
            <a:ext cx="640080" cy="640080"/>
          </a:xfrm>
          <a:prstGeom prst="rect">
            <a:avLst/>
          </a:prstGeom>
          <a:solidFill>
            <a:srgbClr val="F16B21"/>
          </a:solidFill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280" y="4041647"/>
            <a:ext cx="7680959" cy="640080"/>
          </a:xfrm>
          <a:prstGeom prst="rect">
            <a:avLst/>
          </a:prstGeom>
          <a:solidFill>
            <a:srgbClr val="FFDDE0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The</a:t>
            </a:r>
            <a:r>
              <a:rPr sz="15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demo</a:t>
            </a:r>
            <a:r>
              <a:rPr sz="15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shows</a:t>
            </a:r>
            <a:r>
              <a:rPr sz="15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6B0F14"/>
                </a:solidFill>
                <a:latin typeface="Calibri"/>
                <a:cs typeface="Calibri"/>
              </a:rPr>
              <a:t>its</a:t>
            </a:r>
            <a:r>
              <a:rPr sz="1500" b="1" spc="-4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6B0F14"/>
                </a:solidFill>
                <a:latin typeface="Calibri"/>
                <a:cs typeface="Calibri"/>
              </a:rPr>
              <a:t>reasoning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Live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timeline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of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decisions,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answer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versions</a:t>
            </a:r>
            <a:r>
              <a:rPr sz="1350" spc="-20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6B0F14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6B0F1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6B0F14"/>
                </a:solidFill>
                <a:latin typeface="Calibri"/>
                <a:cs typeface="Calibri"/>
              </a:rPr>
              <a:t>sources.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D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6B0F14"/>
                </a:solidFill>
              </a:rPr>
              <a:t>Roadmap</a:t>
            </a:r>
            <a:r>
              <a:rPr spc="-65" dirty="0">
                <a:solidFill>
                  <a:srgbClr val="6B0F14"/>
                </a:solidFill>
              </a:rPr>
              <a:t> </a:t>
            </a:r>
            <a:r>
              <a:rPr dirty="0">
                <a:solidFill>
                  <a:srgbClr val="6B0F14"/>
                </a:solidFill>
              </a:rPr>
              <a:t>/</a:t>
            </a:r>
            <a:r>
              <a:rPr spc="-60" dirty="0">
                <a:solidFill>
                  <a:srgbClr val="6B0F14"/>
                </a:solidFill>
              </a:rPr>
              <a:t> </a:t>
            </a:r>
            <a:r>
              <a:rPr dirty="0"/>
              <a:t>What's</a:t>
            </a:r>
            <a:r>
              <a:rPr spc="-60" dirty="0"/>
              <a:t> </a:t>
            </a:r>
            <a:r>
              <a:rPr spc="-20" dirty="0"/>
              <a:t>Next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5750" y="1097274"/>
            <a:ext cx="8273415" cy="731520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1900" b="1" spc="-20" dirty="0">
                <a:solidFill>
                  <a:srgbClr val="FFDDE0"/>
                </a:solidFill>
                <a:latin typeface="Calibri"/>
                <a:cs typeface="Calibri"/>
              </a:rPr>
              <a:t>Voice</a:t>
            </a:r>
            <a:r>
              <a:rPr sz="1900" b="1" spc="-5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input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Live</a:t>
            </a:r>
            <a:r>
              <a:rPr sz="1650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speech-to-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text</a:t>
            </a:r>
            <a:r>
              <a:rPr sz="1650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feeding</a:t>
            </a:r>
            <a:r>
              <a:rPr sz="1650" spc="-4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the</a:t>
            </a:r>
            <a:r>
              <a:rPr sz="1650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transcript</a:t>
            </a:r>
            <a:r>
              <a:rPr sz="1650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stream.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750" y="1972349"/>
            <a:ext cx="8273415" cy="666750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1900" b="1" dirty="0">
                <a:solidFill>
                  <a:srgbClr val="FFDDE0"/>
                </a:solidFill>
                <a:latin typeface="Calibri"/>
                <a:cs typeface="Calibri"/>
              </a:rPr>
              <a:t>Learned</a:t>
            </a:r>
            <a:r>
              <a:rPr sz="1900" b="1" spc="-10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controller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Swap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rules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for</a:t>
            </a:r>
            <a:r>
              <a:rPr sz="16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a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model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if</a:t>
            </a:r>
            <a:r>
              <a:rPr sz="16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ablation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2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supports</a:t>
            </a:r>
            <a:r>
              <a:rPr sz="1650" spc="-3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FFDDE0"/>
                </a:solidFill>
                <a:latin typeface="Calibri"/>
                <a:cs typeface="Calibri"/>
              </a:rPr>
              <a:t>it.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750" y="2862800"/>
            <a:ext cx="8273415" cy="731520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Optional</a:t>
            </a:r>
            <a:r>
              <a:rPr sz="19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hosted</a:t>
            </a:r>
            <a:r>
              <a:rPr sz="1900" b="1" spc="-5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25" dirty="0">
                <a:solidFill>
                  <a:srgbClr val="FFDDE0"/>
                </a:solidFill>
                <a:latin typeface="Calibri"/>
                <a:cs typeface="Calibri"/>
              </a:rPr>
              <a:t>LLM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Fluent</a:t>
            </a:r>
            <a:r>
              <a:rPr sz="16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generation,</a:t>
            </a:r>
            <a:r>
              <a:rPr sz="16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still</a:t>
            </a:r>
            <a:r>
              <a:rPr sz="16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gated</a:t>
            </a:r>
            <a:r>
              <a:rPr sz="16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by</a:t>
            </a:r>
            <a:r>
              <a:rPr sz="1650" spc="-4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NLI</a:t>
            </a:r>
            <a:r>
              <a:rPr sz="1650" spc="-3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checks.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750" y="3804225"/>
            <a:ext cx="8273415" cy="731520"/>
          </a:xfrm>
          <a:prstGeom prst="rect">
            <a:avLst/>
          </a:prstGeom>
          <a:solidFill>
            <a:srgbClr val="6B0F1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1900" b="1" dirty="0">
                <a:solidFill>
                  <a:srgbClr val="FFDDE0"/>
                </a:solidFill>
                <a:latin typeface="Calibri"/>
                <a:cs typeface="Calibri"/>
              </a:rPr>
              <a:t>Larger</a:t>
            </a:r>
            <a:r>
              <a:rPr sz="1900" b="1" spc="-8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FDDE0"/>
                </a:solidFill>
                <a:latin typeface="Calibri"/>
                <a:cs typeface="Calibri"/>
              </a:rPr>
              <a:t>corpora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Multi-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domain</a:t>
            </a:r>
            <a:r>
              <a:rPr sz="16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knowledge</a:t>
            </a:r>
            <a:r>
              <a:rPr sz="1650" spc="-20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FFDDE0"/>
                </a:solidFill>
                <a:latin typeface="Calibri"/>
                <a:cs typeface="Calibri"/>
              </a:rPr>
              <a:t>with</a:t>
            </a:r>
            <a:r>
              <a:rPr sz="1650" spc="-25" dirty="0">
                <a:solidFill>
                  <a:srgbClr val="FFDDE0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incremental</a:t>
            </a:r>
            <a:r>
              <a:rPr sz="1650" spc="-20" dirty="0">
                <a:solidFill>
                  <a:srgbClr val="FFDDE0"/>
                </a:solidFill>
                <a:latin typeface="Calibri"/>
                <a:cs typeface="Calibri"/>
              </a:rPr>
              <a:t> re-</a:t>
            </a:r>
            <a:r>
              <a:rPr sz="1650" spc="-10" dirty="0">
                <a:solidFill>
                  <a:srgbClr val="FFDDE0"/>
                </a:solidFill>
                <a:latin typeface="Calibri"/>
                <a:cs typeface="Calibri"/>
              </a:rPr>
              <a:t>indexing.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622785"/>
            <a:ext cx="487489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dirty="0">
                <a:solidFill>
                  <a:srgbClr val="5A0C11"/>
                </a:solidFill>
              </a:rPr>
              <a:t>THANK</a:t>
            </a:r>
            <a:r>
              <a:rPr sz="8800" spc="-229" dirty="0">
                <a:solidFill>
                  <a:srgbClr val="5A0C11"/>
                </a:solidFill>
              </a:rPr>
              <a:t> </a:t>
            </a:r>
            <a:r>
              <a:rPr sz="8800" spc="-25" dirty="0">
                <a:solidFill>
                  <a:srgbClr val="5A0C11"/>
                </a:solidFill>
              </a:rPr>
              <a:t>YOU</a:t>
            </a:r>
            <a:endParaRPr sz="8800"/>
          </a:p>
        </p:txBody>
      </p:sp>
      <p:sp>
        <p:nvSpPr>
          <p:cNvPr id="3" name="object 3"/>
          <p:cNvSpPr txBox="1"/>
          <p:nvPr/>
        </p:nvSpPr>
        <p:spPr>
          <a:xfrm>
            <a:off x="444500" y="3797300"/>
            <a:ext cx="34867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Streaming</a:t>
            </a:r>
            <a:r>
              <a:rPr sz="1500" b="1" u="heavy" spc="-1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Live</a:t>
            </a:r>
            <a:r>
              <a:rPr sz="1500" b="1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RAG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Theme</a:t>
            </a:r>
            <a:r>
              <a:rPr sz="1500" b="1" u="heavy" spc="-3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4,</a:t>
            </a:r>
            <a:r>
              <a:rPr sz="1500" b="1" u="heavy" spc="-3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Samsung</a:t>
            </a:r>
            <a:r>
              <a:rPr sz="1500" b="1" u="heavy" spc="-3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PRISM</a:t>
            </a:r>
            <a:r>
              <a:rPr sz="1500" b="1" u="heavy" spc="-3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GenAI</a:t>
            </a:r>
            <a:r>
              <a:rPr sz="1500" b="1" u="heavy" spc="-3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Hackathon</a:t>
            </a:r>
            <a:r>
              <a:rPr sz="1500" b="1" spc="-10" dirty="0">
                <a:solidFill>
                  <a:srgbClr val="1155CC"/>
                </a:solidFill>
                <a:latin typeface="Calibri"/>
                <a:cs typeface="Calibri"/>
              </a:rPr>
              <a:t> </a:t>
            </a:r>
            <a:r>
              <a:rPr sz="1500" b="1" u="heavy" spc="-2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Team:</a:t>
            </a:r>
            <a:r>
              <a:rPr sz="1500" b="1" u="heavy" spc="-45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heavy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Calibri"/>
                <a:cs typeface="Calibri"/>
              </a:rPr>
              <a:t>Ideanuts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1028</Words>
  <Application>Microsoft Office PowerPoint</Application>
  <PresentationFormat>On-screen Show (16:9)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Impact</vt:lpstr>
      <vt:lpstr>Microsoft Sans Serif</vt:lpstr>
      <vt:lpstr>Times New Roman</vt:lpstr>
      <vt:lpstr>Office Theme</vt:lpstr>
      <vt:lpstr>LIVE RAG</vt:lpstr>
      <vt:lpstr>Problem Statement</vt:lpstr>
      <vt:lpstr>What We're Building</vt:lpstr>
      <vt:lpstr>System Architecture</vt:lpstr>
      <vt:lpstr>How We Prevent Hallucination</vt:lpstr>
      <vt:lpstr>How We Refine, Not Restart</vt:lpstr>
      <vt:lpstr>Live Demo / Timeline View</vt:lpstr>
      <vt:lpstr>Benchmark Results</vt:lpstr>
      <vt:lpstr>Engineering Trade-offs / Ablations</vt:lpstr>
      <vt:lpstr>Why It Wins</vt:lpstr>
      <vt:lpstr>Roadmap / What's Next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Priyanshu Sahu</dc:creator>
  <cp:lastModifiedBy>Priyanshu Sahu</cp:lastModifiedBy>
  <cp:revision>1</cp:revision>
  <dcterms:created xsi:type="dcterms:W3CDTF">2026-09-30T17:34:13Z</dcterms:created>
  <dcterms:modified xsi:type="dcterms:W3CDTF">2026-09-30T17:42:28Z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2026-09-30T00:00:00Z</vt:filetime>
  </property>
</Properties>
</file>